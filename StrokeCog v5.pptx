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68" r:id="rId2"/>
    <p:sldId id="264" r:id="rId3"/>
    <p:sldId id="272" r:id="rId4"/>
    <p:sldId id="257" r:id="rId5"/>
    <p:sldId id="265" r:id="rId6"/>
    <p:sldId id="274" r:id="rId7"/>
    <p:sldId id="273" r:id="rId8"/>
    <p:sldId id="275" r:id="rId9"/>
    <p:sldId id="270" r:id="rId10"/>
    <p:sldId id="271" r:id="rId11"/>
    <p:sldId id="267" r:id="rId12"/>
  </p:sldIdLst>
  <p:sldSz cx="1259998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26" autoAdjust="0"/>
    <p:restoredTop sz="96723" autoAdjust="0"/>
  </p:normalViewPr>
  <p:slideViewPr>
    <p:cSldViewPr snapToGrid="0">
      <p:cViewPr>
        <p:scale>
          <a:sx n="100" d="100"/>
          <a:sy n="100" d="100"/>
        </p:scale>
        <p:origin x="1356" y="6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74999" y="1122363"/>
            <a:ext cx="9449991"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74999" y="3602038"/>
            <a:ext cx="944999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D6AFCCF-24AE-4887-9618-F0F2E2356771}" type="datetimeFigureOut">
              <a:rPr lang="en-CA" smtClean="0"/>
              <a:t>2026-07-05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350429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6AFCCF-24AE-4887-9618-F0F2E2356771}" type="datetimeFigureOut">
              <a:rPr lang="en-CA" smtClean="0"/>
              <a:t>2026-07-05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631260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9687" y="1709739"/>
            <a:ext cx="1086749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59687" y="4589464"/>
            <a:ext cx="1086749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6AFCCF-24AE-4887-9618-F0F2E2356771}" type="datetimeFigureOut">
              <a:rPr lang="en-CA" smtClean="0"/>
              <a:t>2026-07-05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890531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66249" y="1825625"/>
            <a:ext cx="535499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8744" y="1825625"/>
            <a:ext cx="535499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D6AFCCF-24AE-4887-9618-F0F2E2356771}" type="datetimeFigureOut">
              <a:rPr lang="en-CA" smtClean="0"/>
              <a:t>2026-07-05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12981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67890" y="365126"/>
            <a:ext cx="1086749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67891" y="1681163"/>
            <a:ext cx="533038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7891" y="2505075"/>
            <a:ext cx="533038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8744" y="1681163"/>
            <a:ext cx="53566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8744" y="2505075"/>
            <a:ext cx="535663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D6AFCCF-24AE-4887-9618-F0F2E2356771}" type="datetimeFigureOut">
              <a:rPr lang="en-CA" smtClean="0"/>
              <a:t>2026-07-05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054789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D6AFCCF-24AE-4887-9618-F0F2E2356771}" type="datetimeFigureOut">
              <a:rPr lang="en-CA" smtClean="0"/>
              <a:t>2026-07-05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815715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6AFCCF-24AE-4887-9618-F0F2E2356771}" type="datetimeFigureOut">
              <a:rPr lang="en-CA" smtClean="0"/>
              <a:t>2026-07-05</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414632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7891" y="457200"/>
            <a:ext cx="4063824"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356636" y="987426"/>
            <a:ext cx="6378744"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7891" y="2057400"/>
            <a:ext cx="406382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6AFCCF-24AE-4887-9618-F0F2E2356771}" type="datetimeFigureOut">
              <a:rPr lang="en-CA" smtClean="0"/>
              <a:t>2026-07-05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944755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7891" y="457200"/>
            <a:ext cx="4063824"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56636" y="987426"/>
            <a:ext cx="6378744"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7891" y="2057400"/>
            <a:ext cx="406382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6AFCCF-24AE-4887-9618-F0F2E2356771}" type="datetimeFigureOut">
              <a:rPr lang="en-CA" smtClean="0"/>
              <a:t>2026-07-05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873602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6AFCCF-24AE-4887-9618-F0F2E2356771}" type="datetimeFigureOut">
              <a:rPr lang="en-CA" smtClean="0"/>
              <a:t>2026-07-05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797290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16867" y="365125"/>
            <a:ext cx="2716872"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66249" y="365125"/>
            <a:ext cx="7993117"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6AFCCF-24AE-4887-9618-F0F2E2356771}" type="datetimeFigureOut">
              <a:rPr lang="en-CA" smtClean="0"/>
              <a:t>2026-07-05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366098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249" y="365126"/>
            <a:ext cx="1086749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66249" y="1825625"/>
            <a:ext cx="1086749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6249" y="6356351"/>
            <a:ext cx="2834997"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6AFCCF-24AE-4887-9618-F0F2E2356771}" type="datetimeFigureOut">
              <a:rPr lang="en-CA" smtClean="0"/>
              <a:t>2026-07-05</a:t>
            </a:fld>
            <a:endParaRPr lang="en-CA"/>
          </a:p>
        </p:txBody>
      </p:sp>
      <p:sp>
        <p:nvSpPr>
          <p:cNvPr id="5" name="Footer Placeholder 4"/>
          <p:cNvSpPr>
            <a:spLocks noGrp="1"/>
          </p:cNvSpPr>
          <p:nvPr>
            <p:ph type="ftr" sz="quarter" idx="3"/>
          </p:nvPr>
        </p:nvSpPr>
        <p:spPr>
          <a:xfrm>
            <a:off x="4173746" y="6356351"/>
            <a:ext cx="4252496"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p:cNvSpPr>
            <a:spLocks noGrp="1"/>
          </p:cNvSpPr>
          <p:nvPr>
            <p:ph type="sldNum" sz="quarter" idx="4"/>
          </p:nvPr>
        </p:nvSpPr>
        <p:spPr>
          <a:xfrm>
            <a:off x="8898742" y="6356351"/>
            <a:ext cx="2834997"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60A0E0-1B89-4B87-805D-071E41B064FF}" type="slidenum">
              <a:rPr lang="en-CA" smtClean="0"/>
              <a:t>‹#›</a:t>
            </a:fld>
            <a:endParaRPr lang="en-CA"/>
          </a:p>
        </p:txBody>
      </p:sp>
    </p:spTree>
    <p:extLst>
      <p:ext uri="{BB962C8B-B14F-4D97-AF65-F5344CB8AC3E}">
        <p14:creationId xmlns:p14="http://schemas.microsoft.com/office/powerpoint/2010/main" val="170572420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7.svg"/><Relationship Id="rId12" Type="http://schemas.openxmlformats.org/officeDocument/2006/relationships/image" Target="../media/image11.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6305766-1E30-9FE7-84EE-1EFB60801EE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514351"/>
            <a:ext cx="12507278" cy="4706303"/>
          </a:xfrm>
          <a:prstGeom prst="rect">
            <a:avLst/>
          </a:prstGeom>
        </p:spPr>
      </p:pic>
    </p:spTree>
    <p:extLst>
      <p:ext uri="{BB962C8B-B14F-4D97-AF65-F5344CB8AC3E}">
        <p14:creationId xmlns:p14="http://schemas.microsoft.com/office/powerpoint/2010/main" val="3519547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E29CE7D8-1288-A20D-8562-7E4C4C7D9E37}"/>
              </a:ext>
            </a:extLst>
          </p:cNvPr>
          <p:cNvSpPr txBox="1"/>
          <p:nvPr/>
        </p:nvSpPr>
        <p:spPr>
          <a:xfrm>
            <a:off x="318155" y="7565585"/>
            <a:ext cx="2589987" cy="734560"/>
          </a:xfrm>
          <a:prstGeom prst="rect">
            <a:avLst/>
          </a:prstGeom>
          <a:noFill/>
        </p:spPr>
        <p:txBody>
          <a:bodyPr wrap="square">
            <a:spAutoFit/>
          </a:bodyPr>
          <a:lstStyle/>
          <a:p>
            <a:r>
              <a:rPr lang="en-CA" sz="261" dirty="0"/>
              <a:t>Bars show the mean biological module score in patients with lower SIS3 versus higher SIS3. Each biological module summarizes a set of plasma proteins linked to processes relevant to chronic stroke, mood regulation, inflammation, vascular injury, systemic stress, and recovery. Because biological functions overlap, some proteins were allowed to contribute to more than one module. </a:t>
            </a:r>
          </a:p>
          <a:p>
            <a:endParaRPr lang="en-CA" sz="261" dirty="0"/>
          </a:p>
          <a:p>
            <a:r>
              <a:rPr lang="en-CA" sz="261" dirty="0"/>
              <a:t>Positive and negative values indicate module activity above or below the cohort average.</a:t>
            </a:r>
          </a:p>
          <a:p>
            <a:endParaRPr lang="en-CA" sz="261" dirty="0"/>
          </a:p>
          <a:p>
            <a:r>
              <a:rPr lang="en-CA" sz="261" dirty="0"/>
              <a:t>Lower SIS3 was associated with a more polarized module profile, with relative activation of monoamine/vesicle/stress-related signals and relative restraint of vascular-remodeling, immune-coagulation, and neuroplasticity-related modules. In contrast, higher SIS3 showed a more generally suppressed module pattern, suggesting that worse mood may reflect disrupted coordination between stress-response and repair biology.</a:t>
            </a:r>
          </a:p>
          <a:p>
            <a:endParaRPr lang="en-CA" sz="261" dirty="0"/>
          </a:p>
          <a:p>
            <a:r>
              <a:rPr lang="en-CA" sz="261" dirty="0"/>
              <a:t>Methods: Mean biological module scores were calculated from raw </a:t>
            </a:r>
            <a:r>
              <a:rPr lang="en-CA" sz="261" dirty="0" err="1"/>
              <a:t>Olink</a:t>
            </a:r>
            <a:r>
              <a:rPr lang="en-CA" sz="261" dirty="0"/>
              <a:t> NPX data. Low-detection proteins were removed, retained proteins were z-scored across patients, and proteins were assigned to one or more literature-aligned biological modules. For each patient, each module score was calculated as the average z-scored NPX value of retained proteins assigned to that module. Lower SIS3 (threshold 63) indicates worse mood/emotional function.</a:t>
            </a:r>
          </a:p>
          <a:p>
            <a:endParaRPr lang="en-CA" sz="261" dirty="0"/>
          </a:p>
          <a:p>
            <a:r>
              <a:rPr lang="en-CA" sz="261" dirty="0"/>
              <a:t>p values compare patient-level module scores between lower- and higher-SIS3 groups using two-sided Mann–Whitney U tests. Confidence intervals show bootstrap 95% CIs for the mean difference, Low SIS3 minus High SIS3.</a:t>
            </a:r>
          </a:p>
        </p:txBody>
      </p:sp>
      <p:sp>
        <p:nvSpPr>
          <p:cNvPr id="27" name="TextBox 26">
            <a:extLst>
              <a:ext uri="{FF2B5EF4-FFF2-40B4-BE49-F238E27FC236}">
                <a16:creationId xmlns:a16="http://schemas.microsoft.com/office/drawing/2014/main" id="{2782D0C8-1417-811E-EED4-9AC7AB6246A7}"/>
              </a:ext>
            </a:extLst>
          </p:cNvPr>
          <p:cNvSpPr txBox="1"/>
          <p:nvPr/>
        </p:nvSpPr>
        <p:spPr>
          <a:xfrm>
            <a:off x="530434" y="7025359"/>
            <a:ext cx="2225553" cy="158057"/>
          </a:xfrm>
          <a:prstGeom prst="rect">
            <a:avLst/>
          </a:prstGeom>
          <a:noFill/>
        </p:spPr>
        <p:txBody>
          <a:bodyPr wrap="square">
            <a:spAutoFit/>
          </a:bodyPr>
          <a:lstStyle/>
          <a:p>
            <a:r>
              <a:rPr lang="en-CA" sz="427" dirty="0"/>
              <a:t>Multi-module plasma protein profiles distinguish lower versus higher SIS3 groups.</a:t>
            </a:r>
          </a:p>
        </p:txBody>
      </p:sp>
      <p:pic>
        <p:nvPicPr>
          <p:cNvPr id="14" name="Graphic 13">
            <a:extLst>
              <a:ext uri="{FF2B5EF4-FFF2-40B4-BE49-F238E27FC236}">
                <a16:creationId xmlns:a16="http://schemas.microsoft.com/office/drawing/2014/main" id="{CD01F12E-7997-D291-C5E9-8B4227F5484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506" y="0"/>
            <a:ext cx="12372975" cy="6705600"/>
          </a:xfrm>
          <a:prstGeom prst="rect">
            <a:avLst/>
          </a:prstGeom>
        </p:spPr>
      </p:pic>
    </p:spTree>
    <p:extLst>
      <p:ext uri="{BB962C8B-B14F-4D97-AF65-F5344CB8AC3E}">
        <p14:creationId xmlns:p14="http://schemas.microsoft.com/office/powerpoint/2010/main" val="3275798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B7633-4166-B65B-C5A9-A1F01C10E530}"/>
            </a:ext>
          </a:extLst>
        </p:cNvPr>
        <p:cNvGrpSpPr/>
        <p:nvPr/>
      </p:nvGrpSpPr>
      <p:grpSpPr>
        <a:xfrm>
          <a:off x="0" y="0"/>
          <a:ext cx="0" cy="0"/>
          <a:chOff x="0" y="0"/>
          <a:chExt cx="0" cy="0"/>
        </a:xfrm>
      </p:grpSpPr>
      <p:pic>
        <p:nvPicPr>
          <p:cNvPr id="17" name="Graphic 16">
            <a:extLst>
              <a:ext uri="{FF2B5EF4-FFF2-40B4-BE49-F238E27FC236}">
                <a16:creationId xmlns:a16="http://schemas.microsoft.com/office/drawing/2014/main" id="{142E4A9F-6D8C-EF79-9DD9-29405B9C17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88" y="19050"/>
            <a:ext cx="12534900" cy="6838950"/>
          </a:xfrm>
          <a:prstGeom prst="rect">
            <a:avLst/>
          </a:prstGeom>
        </p:spPr>
      </p:pic>
    </p:spTree>
    <p:extLst>
      <p:ext uri="{BB962C8B-B14F-4D97-AF65-F5344CB8AC3E}">
        <p14:creationId xmlns:p14="http://schemas.microsoft.com/office/powerpoint/2010/main" val="1215484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2F8DF0E-D81F-E4D5-301D-16AF70988C1C}"/>
              </a:ext>
            </a:extLst>
          </p:cNvPr>
          <p:cNvSpPr txBox="1"/>
          <p:nvPr/>
        </p:nvSpPr>
        <p:spPr>
          <a:xfrm>
            <a:off x="5576692" y="2653067"/>
            <a:ext cx="1446609" cy="223779"/>
          </a:xfrm>
          <a:prstGeom prst="rect">
            <a:avLst/>
          </a:prstGeom>
          <a:noFill/>
        </p:spPr>
        <p:txBody>
          <a:bodyPr wrap="square">
            <a:spAutoFit/>
          </a:bodyPr>
          <a:lstStyle/>
          <a:p>
            <a:r>
              <a:rPr lang="en-CA" sz="427" dirty="0"/>
              <a:t>Distribution of SIS3 mood scores across time since stroke</a:t>
            </a:r>
          </a:p>
        </p:txBody>
      </p:sp>
      <p:sp>
        <p:nvSpPr>
          <p:cNvPr id="14" name="TextBox 13">
            <a:extLst>
              <a:ext uri="{FF2B5EF4-FFF2-40B4-BE49-F238E27FC236}">
                <a16:creationId xmlns:a16="http://schemas.microsoft.com/office/drawing/2014/main" id="{0CDBFA79-6909-F8AC-11A1-23098C883BDD}"/>
              </a:ext>
            </a:extLst>
          </p:cNvPr>
          <p:cNvSpPr txBox="1"/>
          <p:nvPr/>
        </p:nvSpPr>
        <p:spPr>
          <a:xfrm>
            <a:off x="5018447" y="3761905"/>
            <a:ext cx="2505602" cy="333168"/>
          </a:xfrm>
          <a:prstGeom prst="rect">
            <a:avLst/>
          </a:prstGeom>
          <a:noFill/>
        </p:spPr>
        <p:txBody>
          <a:bodyPr wrap="square">
            <a:spAutoFit/>
          </a:bodyPr>
          <a:lstStyle/>
          <a:p>
            <a:r>
              <a:rPr lang="en-CA" sz="261" dirty="0"/>
              <a:t>Patients were grouped by time since stroke and split into lower SIS3 (≤63) and higher SIS3 (&gt;63). The proportion of lower-SIS3 patients increased across later time bins. </a:t>
            </a:r>
          </a:p>
          <a:p>
            <a:endParaRPr lang="en-CA" sz="261" dirty="0"/>
          </a:p>
          <a:p>
            <a:r>
              <a:rPr lang="en-CA" sz="261" dirty="0"/>
              <a:t>Violin plots show that lower-SIS3 patients, especially beyond 3 years, had lower average SIS3 scores and greater variability, whereas higher-SIS3 patients remained clustered above SIS3 threshold. These patterns suggest that post-stroke mood impairment may reflect a heterogeneous phenotype at late-stage, motivating the next step of testing whether distinct biological module profiles underlie lower versus higher SIS3 groups.</a:t>
            </a:r>
          </a:p>
        </p:txBody>
      </p:sp>
      <p:pic>
        <p:nvPicPr>
          <p:cNvPr id="18" name="Graphic 17">
            <a:extLst>
              <a:ext uri="{FF2B5EF4-FFF2-40B4-BE49-F238E27FC236}">
                <a16:creationId xmlns:a16="http://schemas.microsoft.com/office/drawing/2014/main" id="{53E48621-C7FE-BC39-933E-A088AB4A39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306" y="238125"/>
            <a:ext cx="12525375" cy="6553200"/>
          </a:xfrm>
          <a:prstGeom prst="rect">
            <a:avLst/>
          </a:prstGeom>
        </p:spPr>
      </p:pic>
    </p:spTree>
    <p:extLst>
      <p:ext uri="{BB962C8B-B14F-4D97-AF65-F5344CB8AC3E}">
        <p14:creationId xmlns:p14="http://schemas.microsoft.com/office/powerpoint/2010/main" val="4212695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923C4CA0-7525-29FC-6E3C-3801652222A3}"/>
              </a:ext>
            </a:extLst>
          </p:cNvPr>
          <p:cNvSpPr txBox="1"/>
          <p:nvPr/>
        </p:nvSpPr>
        <p:spPr>
          <a:xfrm>
            <a:off x="424272" y="7288492"/>
            <a:ext cx="2244276" cy="158057"/>
          </a:xfrm>
          <a:prstGeom prst="rect">
            <a:avLst/>
          </a:prstGeom>
          <a:noFill/>
        </p:spPr>
        <p:txBody>
          <a:bodyPr wrap="square">
            <a:spAutoFit/>
          </a:bodyPr>
          <a:lstStyle/>
          <a:p>
            <a:r>
              <a:rPr lang="en-CA" sz="427" dirty="0"/>
              <a:t>Low SIS3 group exhibits time-dependent biological shift</a:t>
            </a:r>
          </a:p>
        </p:txBody>
      </p:sp>
      <p:sp>
        <p:nvSpPr>
          <p:cNvPr id="37" name="TextBox 36">
            <a:extLst>
              <a:ext uri="{FF2B5EF4-FFF2-40B4-BE49-F238E27FC236}">
                <a16:creationId xmlns:a16="http://schemas.microsoft.com/office/drawing/2014/main" id="{D30C1618-2D77-3BDC-AF4E-7F4303628B8D}"/>
              </a:ext>
            </a:extLst>
          </p:cNvPr>
          <p:cNvSpPr txBox="1"/>
          <p:nvPr/>
        </p:nvSpPr>
        <p:spPr>
          <a:xfrm>
            <a:off x="2409577" y="7199686"/>
            <a:ext cx="2170478" cy="493725"/>
          </a:xfrm>
          <a:prstGeom prst="rect">
            <a:avLst/>
          </a:prstGeom>
          <a:noFill/>
        </p:spPr>
        <p:txBody>
          <a:bodyPr wrap="square">
            <a:spAutoFit/>
          </a:bodyPr>
          <a:lstStyle/>
          <a:p>
            <a:r>
              <a:rPr lang="en-CA" sz="261" dirty="0"/>
              <a:t>Patients were stratified by time since stroke and SIS3 group. </a:t>
            </a:r>
          </a:p>
          <a:p>
            <a:r>
              <a:rPr lang="en-CA" sz="261" dirty="0"/>
              <a:t>Lower SIS3 showed a time-dependent module shift: stress/monoamine/vesicle-related signals became relatively higher, while vascular-remodeling, immune-coagulation, endothelial/BBB, and neuroplasticity-related modules became relatively lower, especially beyond 3 years. In contrast, higher-SIS3 patients showed smaller module shifts and remained closer to the cohort average across time bins.</a:t>
            </a:r>
          </a:p>
          <a:p>
            <a:endParaRPr lang="en-CA" sz="261" dirty="0"/>
          </a:p>
          <a:p>
            <a:r>
              <a:rPr lang="en-CA" sz="261" dirty="0"/>
              <a:t>The 1–3 year period may represent a potential intervention window, marked by increased monoamine, vesicle-trafficking, and stress-related module activity. Late-stage signatures may help guide earlier intervention strategies aimed at rebalancing stress-response and repair biology. The 1–3 year profile may guide 0–1 year prevention strategies, whereas the &gt;3 year signature may guide interventions during the 1–3 year transition window. </a:t>
            </a:r>
          </a:p>
          <a:p>
            <a:endParaRPr lang="en-CA" sz="261" dirty="0"/>
          </a:p>
        </p:txBody>
      </p:sp>
      <p:pic>
        <p:nvPicPr>
          <p:cNvPr id="22" name="Graphic 21">
            <a:extLst>
              <a:ext uri="{FF2B5EF4-FFF2-40B4-BE49-F238E27FC236}">
                <a16:creationId xmlns:a16="http://schemas.microsoft.com/office/drawing/2014/main" id="{65AFF037-AA5F-9A13-BB20-C1B5AEFA321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08610"/>
            <a:ext cx="12575858" cy="6240780"/>
          </a:xfrm>
          <a:prstGeom prst="rect">
            <a:avLst/>
          </a:prstGeom>
        </p:spPr>
      </p:pic>
    </p:spTree>
    <p:extLst>
      <p:ext uri="{BB962C8B-B14F-4D97-AF65-F5344CB8AC3E}">
        <p14:creationId xmlns:p14="http://schemas.microsoft.com/office/powerpoint/2010/main" val="1458557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3E41A-A88E-82F5-05E9-001A8B151AD8}"/>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0076AEFF-9AB6-2A04-77D6-9F965D15F45C}"/>
              </a:ext>
            </a:extLst>
          </p:cNvPr>
          <p:cNvSpPr txBox="1"/>
          <p:nvPr/>
        </p:nvSpPr>
        <p:spPr>
          <a:xfrm>
            <a:off x="424272" y="7288492"/>
            <a:ext cx="2244276" cy="158057"/>
          </a:xfrm>
          <a:prstGeom prst="rect">
            <a:avLst/>
          </a:prstGeom>
          <a:noFill/>
        </p:spPr>
        <p:txBody>
          <a:bodyPr wrap="square">
            <a:spAutoFit/>
          </a:bodyPr>
          <a:lstStyle/>
          <a:p>
            <a:r>
              <a:rPr lang="en-CA" sz="427" dirty="0"/>
              <a:t>Low SIS3 group exhibits time-dependent biological shift</a:t>
            </a:r>
          </a:p>
        </p:txBody>
      </p:sp>
      <p:sp>
        <p:nvSpPr>
          <p:cNvPr id="37" name="TextBox 36">
            <a:extLst>
              <a:ext uri="{FF2B5EF4-FFF2-40B4-BE49-F238E27FC236}">
                <a16:creationId xmlns:a16="http://schemas.microsoft.com/office/drawing/2014/main" id="{FFD11B07-0457-B4FA-40BB-D377DCECD6A9}"/>
              </a:ext>
            </a:extLst>
          </p:cNvPr>
          <p:cNvSpPr txBox="1"/>
          <p:nvPr/>
        </p:nvSpPr>
        <p:spPr>
          <a:xfrm>
            <a:off x="2409577" y="7199686"/>
            <a:ext cx="2170478" cy="493725"/>
          </a:xfrm>
          <a:prstGeom prst="rect">
            <a:avLst/>
          </a:prstGeom>
          <a:noFill/>
        </p:spPr>
        <p:txBody>
          <a:bodyPr wrap="square">
            <a:spAutoFit/>
          </a:bodyPr>
          <a:lstStyle/>
          <a:p>
            <a:r>
              <a:rPr lang="en-CA" sz="261" dirty="0"/>
              <a:t>Patients were stratified by time since stroke and SIS3 group. </a:t>
            </a:r>
          </a:p>
          <a:p>
            <a:r>
              <a:rPr lang="en-CA" sz="261" dirty="0"/>
              <a:t>Lower SIS3 showed a time-dependent module shift: stress/monoamine/vesicle-related signals became relatively higher, while vascular-remodeling, immune-coagulation, endothelial/BBB, and neuroplasticity-related modules became relatively lower, especially beyond 3 years. In contrast, higher-SIS3 patients showed smaller module shifts and remained closer to the cohort average across time bins.</a:t>
            </a:r>
          </a:p>
          <a:p>
            <a:endParaRPr lang="en-CA" sz="261" dirty="0"/>
          </a:p>
          <a:p>
            <a:r>
              <a:rPr lang="en-CA" sz="261" dirty="0"/>
              <a:t>The 1–3 year period may represent a potential intervention window, marked by increased monoamine, vesicle-trafficking, and stress-related module activity. Late-stage signatures may help guide earlier intervention strategies aimed at rebalancing stress-response and repair biology. The 1–3 year profile may guide 0–1 year prevention strategies, whereas the &gt;3 year signature may guide interventions during the 1–3 year transition window. </a:t>
            </a:r>
          </a:p>
          <a:p>
            <a:endParaRPr lang="en-CA" sz="261" dirty="0"/>
          </a:p>
        </p:txBody>
      </p:sp>
      <p:pic>
        <p:nvPicPr>
          <p:cNvPr id="28" name="Graphic 27">
            <a:extLst>
              <a:ext uri="{FF2B5EF4-FFF2-40B4-BE49-F238E27FC236}">
                <a16:creationId xmlns:a16="http://schemas.microsoft.com/office/drawing/2014/main" id="{D021C6EA-92FE-36DE-65DF-08E392BD8A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917055"/>
            <a:ext cx="12605099" cy="4091178"/>
          </a:xfrm>
          <a:prstGeom prst="rect">
            <a:avLst/>
          </a:prstGeom>
        </p:spPr>
      </p:pic>
    </p:spTree>
    <p:extLst>
      <p:ext uri="{BB962C8B-B14F-4D97-AF65-F5344CB8AC3E}">
        <p14:creationId xmlns:p14="http://schemas.microsoft.com/office/powerpoint/2010/main" val="2794748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A1C21-1483-A2AE-CC41-7CE809402471}"/>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A85B5BBC-57F7-0F12-DC35-37D50AD174F1}"/>
              </a:ext>
            </a:extLst>
          </p:cNvPr>
          <p:cNvSpPr txBox="1"/>
          <p:nvPr/>
        </p:nvSpPr>
        <p:spPr>
          <a:xfrm>
            <a:off x="424272" y="7288492"/>
            <a:ext cx="2244276" cy="158057"/>
          </a:xfrm>
          <a:prstGeom prst="rect">
            <a:avLst/>
          </a:prstGeom>
          <a:noFill/>
        </p:spPr>
        <p:txBody>
          <a:bodyPr wrap="square">
            <a:spAutoFit/>
          </a:bodyPr>
          <a:lstStyle/>
          <a:p>
            <a:r>
              <a:rPr lang="en-CA" sz="427" dirty="0"/>
              <a:t>Low SIS3 group exhibits time-dependent biological shift</a:t>
            </a:r>
          </a:p>
        </p:txBody>
      </p:sp>
      <p:sp>
        <p:nvSpPr>
          <p:cNvPr id="37" name="TextBox 36">
            <a:extLst>
              <a:ext uri="{FF2B5EF4-FFF2-40B4-BE49-F238E27FC236}">
                <a16:creationId xmlns:a16="http://schemas.microsoft.com/office/drawing/2014/main" id="{EF29932C-6685-CC6A-3DD2-E0AEB352D2EA}"/>
              </a:ext>
            </a:extLst>
          </p:cNvPr>
          <p:cNvSpPr txBox="1"/>
          <p:nvPr/>
        </p:nvSpPr>
        <p:spPr>
          <a:xfrm>
            <a:off x="2409577" y="7199686"/>
            <a:ext cx="2170478" cy="493725"/>
          </a:xfrm>
          <a:prstGeom prst="rect">
            <a:avLst/>
          </a:prstGeom>
          <a:noFill/>
        </p:spPr>
        <p:txBody>
          <a:bodyPr wrap="square">
            <a:spAutoFit/>
          </a:bodyPr>
          <a:lstStyle/>
          <a:p>
            <a:r>
              <a:rPr lang="en-CA" sz="261" dirty="0"/>
              <a:t>Patients were stratified by time since stroke and SIS3 group. </a:t>
            </a:r>
          </a:p>
          <a:p>
            <a:r>
              <a:rPr lang="en-CA" sz="261" dirty="0"/>
              <a:t>Lower SIS3 showed a time-dependent module shift: stress/monoamine/vesicle-related signals became relatively higher, while vascular-remodeling, immune-coagulation, endothelial/BBB, and neuroplasticity-related modules became relatively lower, especially beyond 3 years. In contrast, higher-SIS3 patients showed smaller module shifts and remained closer to the cohort average across time bins.</a:t>
            </a:r>
          </a:p>
          <a:p>
            <a:endParaRPr lang="en-CA" sz="261" dirty="0"/>
          </a:p>
          <a:p>
            <a:r>
              <a:rPr lang="en-CA" sz="261" dirty="0"/>
              <a:t>The 1–3 year period may represent a potential intervention window, marked by increased monoamine, vesicle-trafficking, and stress-related module activity. Late-stage signatures may help guide earlier intervention strategies aimed at rebalancing stress-response and repair biology. The 1–3 year profile may guide 0–1 year prevention strategies, whereas the &gt;3 year signature may guide interventions during the 1–3 year transition window. </a:t>
            </a:r>
          </a:p>
          <a:p>
            <a:endParaRPr lang="en-CA" sz="261" dirty="0"/>
          </a:p>
        </p:txBody>
      </p:sp>
      <p:pic>
        <p:nvPicPr>
          <p:cNvPr id="26" name="Graphic 25">
            <a:extLst>
              <a:ext uri="{FF2B5EF4-FFF2-40B4-BE49-F238E27FC236}">
                <a16:creationId xmlns:a16="http://schemas.microsoft.com/office/drawing/2014/main" id="{9A6156D7-BF66-541B-8089-A61F5002BFC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130" y="308610"/>
            <a:ext cx="12575858" cy="6240780"/>
          </a:xfrm>
          <a:prstGeom prst="rect">
            <a:avLst/>
          </a:prstGeom>
        </p:spPr>
      </p:pic>
    </p:spTree>
    <p:extLst>
      <p:ext uri="{BB962C8B-B14F-4D97-AF65-F5344CB8AC3E}">
        <p14:creationId xmlns:p14="http://schemas.microsoft.com/office/powerpoint/2010/main" val="2247375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D0F91-A5F6-05CC-71BD-9A07DDF148EF}"/>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AB985F0E-A6B6-B116-577A-4C1D60F9CD7A}"/>
              </a:ext>
            </a:extLst>
          </p:cNvPr>
          <p:cNvSpPr txBox="1"/>
          <p:nvPr/>
        </p:nvSpPr>
        <p:spPr>
          <a:xfrm>
            <a:off x="424272" y="7288492"/>
            <a:ext cx="2244276" cy="158057"/>
          </a:xfrm>
          <a:prstGeom prst="rect">
            <a:avLst/>
          </a:prstGeom>
          <a:noFill/>
        </p:spPr>
        <p:txBody>
          <a:bodyPr wrap="square">
            <a:spAutoFit/>
          </a:bodyPr>
          <a:lstStyle/>
          <a:p>
            <a:r>
              <a:rPr lang="en-CA" sz="427" dirty="0"/>
              <a:t>Low SIS3 group exhibits time-dependent biological shift</a:t>
            </a:r>
          </a:p>
        </p:txBody>
      </p:sp>
      <p:sp>
        <p:nvSpPr>
          <p:cNvPr id="37" name="TextBox 36">
            <a:extLst>
              <a:ext uri="{FF2B5EF4-FFF2-40B4-BE49-F238E27FC236}">
                <a16:creationId xmlns:a16="http://schemas.microsoft.com/office/drawing/2014/main" id="{7524D566-9462-64D2-01DD-F37CA59EB6D4}"/>
              </a:ext>
            </a:extLst>
          </p:cNvPr>
          <p:cNvSpPr txBox="1"/>
          <p:nvPr/>
        </p:nvSpPr>
        <p:spPr>
          <a:xfrm>
            <a:off x="2409577" y="7199686"/>
            <a:ext cx="2170478" cy="493725"/>
          </a:xfrm>
          <a:prstGeom prst="rect">
            <a:avLst/>
          </a:prstGeom>
          <a:noFill/>
        </p:spPr>
        <p:txBody>
          <a:bodyPr wrap="square">
            <a:spAutoFit/>
          </a:bodyPr>
          <a:lstStyle/>
          <a:p>
            <a:r>
              <a:rPr lang="en-CA" sz="261" dirty="0"/>
              <a:t>Patients were stratified by time since stroke and SIS3 group. </a:t>
            </a:r>
          </a:p>
          <a:p>
            <a:r>
              <a:rPr lang="en-CA" sz="261" dirty="0"/>
              <a:t>Lower SIS3 showed a time-dependent module shift: stress/monoamine/vesicle-related signals became relatively higher, while vascular-remodeling, immune-coagulation, endothelial/BBB, and neuroplasticity-related modules became relatively lower, especially beyond 3 years. In contrast, higher-SIS3 patients showed smaller module shifts and remained closer to the cohort average across time bins.</a:t>
            </a:r>
          </a:p>
          <a:p>
            <a:endParaRPr lang="en-CA" sz="261" dirty="0"/>
          </a:p>
          <a:p>
            <a:r>
              <a:rPr lang="en-CA" sz="261" dirty="0"/>
              <a:t>The 1–3 year period may represent a potential intervention window, marked by increased monoamine, vesicle-trafficking, and stress-related module activity. Late-stage signatures may help guide earlier intervention strategies aimed at rebalancing stress-response and repair biology. The 1–3 year profile may guide 0–1 year prevention strategies, whereas the &gt;3 year signature may guide interventions during the 1–3 year transition window. </a:t>
            </a:r>
          </a:p>
          <a:p>
            <a:endParaRPr lang="en-CA" sz="261" dirty="0"/>
          </a:p>
        </p:txBody>
      </p:sp>
      <p:pic>
        <p:nvPicPr>
          <p:cNvPr id="24" name="Graphic 23">
            <a:extLst>
              <a:ext uri="{FF2B5EF4-FFF2-40B4-BE49-F238E27FC236}">
                <a16:creationId xmlns:a16="http://schemas.microsoft.com/office/drawing/2014/main" id="{F40C76B1-7BD2-F33A-356E-BF2D0B6294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11" y="845820"/>
            <a:ext cx="12605099" cy="4091178"/>
          </a:xfrm>
          <a:prstGeom prst="rect">
            <a:avLst/>
          </a:prstGeom>
        </p:spPr>
      </p:pic>
    </p:spTree>
    <p:extLst>
      <p:ext uri="{BB962C8B-B14F-4D97-AF65-F5344CB8AC3E}">
        <p14:creationId xmlns:p14="http://schemas.microsoft.com/office/powerpoint/2010/main" val="978908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8E757-DB51-EE7D-EE66-AF88D290B153}"/>
            </a:ext>
          </a:extLst>
        </p:cNvPr>
        <p:cNvGrpSpPr/>
        <p:nvPr/>
      </p:nvGrpSpPr>
      <p:grpSpPr>
        <a:xfrm>
          <a:off x="0" y="0"/>
          <a:ext cx="0" cy="0"/>
          <a:chOff x="0" y="0"/>
          <a:chExt cx="0" cy="0"/>
        </a:xfrm>
      </p:grpSpPr>
      <p:pic>
        <p:nvPicPr>
          <p:cNvPr id="8" name="Graphic 7">
            <a:extLst>
              <a:ext uri="{FF2B5EF4-FFF2-40B4-BE49-F238E27FC236}">
                <a16:creationId xmlns:a16="http://schemas.microsoft.com/office/drawing/2014/main" id="{F4DD183D-0811-52CF-D688-59BF340369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1475" y="531495"/>
            <a:ext cx="11718608" cy="5795010"/>
          </a:xfrm>
          <a:prstGeom prst="rect">
            <a:avLst/>
          </a:prstGeom>
        </p:spPr>
      </p:pic>
    </p:spTree>
    <p:extLst>
      <p:ext uri="{BB962C8B-B14F-4D97-AF65-F5344CB8AC3E}">
        <p14:creationId xmlns:p14="http://schemas.microsoft.com/office/powerpoint/2010/main" val="2337395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425911A2-8AD1-0E0C-31E7-98B1F0ED92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49206" y="1549066"/>
            <a:ext cx="989345" cy="372276"/>
          </a:xfrm>
          <a:prstGeom prst="rect">
            <a:avLst/>
          </a:prstGeom>
        </p:spPr>
      </p:pic>
      <p:pic>
        <p:nvPicPr>
          <p:cNvPr id="5" name="Graphic 4">
            <a:extLst>
              <a:ext uri="{FF2B5EF4-FFF2-40B4-BE49-F238E27FC236}">
                <a16:creationId xmlns:a16="http://schemas.microsoft.com/office/drawing/2014/main" id="{EE6D8166-8C0F-42E1-5960-A762D8C334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97252" y="1937619"/>
            <a:ext cx="880850" cy="477381"/>
          </a:xfrm>
          <a:prstGeom prst="rect">
            <a:avLst/>
          </a:prstGeom>
        </p:spPr>
      </p:pic>
      <p:pic>
        <p:nvPicPr>
          <p:cNvPr id="7" name="Graphic 6">
            <a:extLst>
              <a:ext uri="{FF2B5EF4-FFF2-40B4-BE49-F238E27FC236}">
                <a16:creationId xmlns:a16="http://schemas.microsoft.com/office/drawing/2014/main" id="{4C90CF95-758E-83DA-EF60-860A8EA0BC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05733" y="1910217"/>
            <a:ext cx="892377" cy="486875"/>
          </a:xfrm>
          <a:prstGeom prst="rect">
            <a:avLst/>
          </a:prstGeom>
        </p:spPr>
      </p:pic>
      <p:pic>
        <p:nvPicPr>
          <p:cNvPr id="9" name="Graphic 8">
            <a:extLst>
              <a:ext uri="{FF2B5EF4-FFF2-40B4-BE49-F238E27FC236}">
                <a16:creationId xmlns:a16="http://schemas.microsoft.com/office/drawing/2014/main" id="{653B78F9-09DF-72FB-5E0D-E1D7382799E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46852" y="2452783"/>
            <a:ext cx="891699" cy="466532"/>
          </a:xfrm>
          <a:prstGeom prst="rect">
            <a:avLst/>
          </a:prstGeom>
        </p:spPr>
      </p:pic>
      <p:pic>
        <p:nvPicPr>
          <p:cNvPr id="11" name="Graphic 10">
            <a:extLst>
              <a:ext uri="{FF2B5EF4-FFF2-40B4-BE49-F238E27FC236}">
                <a16:creationId xmlns:a16="http://schemas.microsoft.com/office/drawing/2014/main" id="{11126144-B3A3-B0EA-1F3A-379BF89BDA9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22567" y="2910055"/>
            <a:ext cx="994770" cy="493656"/>
          </a:xfrm>
          <a:prstGeom prst="rect">
            <a:avLst/>
          </a:prstGeom>
        </p:spPr>
      </p:pic>
      <p:pic>
        <p:nvPicPr>
          <p:cNvPr id="13" name="Graphic 12">
            <a:extLst>
              <a:ext uri="{FF2B5EF4-FFF2-40B4-BE49-F238E27FC236}">
                <a16:creationId xmlns:a16="http://schemas.microsoft.com/office/drawing/2014/main" id="{691D15DA-2A89-0A7B-3BC1-8EB1737C082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9016" y="3403710"/>
            <a:ext cx="994770" cy="493656"/>
          </a:xfrm>
          <a:prstGeom prst="rect">
            <a:avLst/>
          </a:prstGeom>
        </p:spPr>
      </p:pic>
      <p:pic>
        <p:nvPicPr>
          <p:cNvPr id="15" name="Graphic 14">
            <a:extLst>
              <a:ext uri="{FF2B5EF4-FFF2-40B4-BE49-F238E27FC236}">
                <a16:creationId xmlns:a16="http://schemas.microsoft.com/office/drawing/2014/main" id="{8593C354-450D-011D-D79F-FF35F6DA71D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63789" y="2902426"/>
            <a:ext cx="1520975" cy="493656"/>
          </a:xfrm>
          <a:prstGeom prst="rect">
            <a:avLst/>
          </a:prstGeom>
        </p:spPr>
      </p:pic>
      <p:pic>
        <p:nvPicPr>
          <p:cNvPr id="17" name="Graphic 16">
            <a:extLst>
              <a:ext uri="{FF2B5EF4-FFF2-40B4-BE49-F238E27FC236}">
                <a16:creationId xmlns:a16="http://schemas.microsoft.com/office/drawing/2014/main" id="{3FD1F819-5D85-1F24-52B2-F1B28A75E2F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963789" y="3403710"/>
            <a:ext cx="1520975" cy="493656"/>
          </a:xfrm>
          <a:prstGeom prst="rect">
            <a:avLst/>
          </a:prstGeom>
        </p:spPr>
      </p:pic>
      <p:pic>
        <p:nvPicPr>
          <p:cNvPr id="19" name="Graphic 18">
            <a:extLst>
              <a:ext uri="{FF2B5EF4-FFF2-40B4-BE49-F238E27FC236}">
                <a16:creationId xmlns:a16="http://schemas.microsoft.com/office/drawing/2014/main" id="{0F8EE4C2-9507-5400-3085-57A18D9005D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743285" y="3932630"/>
            <a:ext cx="926960" cy="458395"/>
          </a:xfrm>
          <a:prstGeom prst="rect">
            <a:avLst/>
          </a:prstGeom>
        </p:spPr>
      </p:pic>
      <p:pic>
        <p:nvPicPr>
          <p:cNvPr id="21" name="Graphic 20">
            <a:extLst>
              <a:ext uri="{FF2B5EF4-FFF2-40B4-BE49-F238E27FC236}">
                <a16:creationId xmlns:a16="http://schemas.microsoft.com/office/drawing/2014/main" id="{7B7D7715-33E4-F389-2E2E-B37185CE327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14972" y="4440614"/>
            <a:ext cx="516033" cy="362783"/>
          </a:xfrm>
          <a:prstGeom prst="rect">
            <a:avLst/>
          </a:prstGeom>
        </p:spPr>
      </p:pic>
      <p:pic>
        <p:nvPicPr>
          <p:cNvPr id="23" name="Graphic 22">
            <a:extLst>
              <a:ext uri="{FF2B5EF4-FFF2-40B4-BE49-F238E27FC236}">
                <a16:creationId xmlns:a16="http://schemas.microsoft.com/office/drawing/2014/main" id="{EFBA4BAA-8EE4-37EB-1A83-19D5CC6515D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107199" y="4843663"/>
            <a:ext cx="966290" cy="431270"/>
          </a:xfrm>
          <a:prstGeom prst="rect">
            <a:avLst/>
          </a:prstGeom>
        </p:spPr>
      </p:pic>
      <p:pic>
        <p:nvPicPr>
          <p:cNvPr id="25" name="Graphic 24">
            <a:extLst>
              <a:ext uri="{FF2B5EF4-FFF2-40B4-BE49-F238E27FC236}">
                <a16:creationId xmlns:a16="http://schemas.microsoft.com/office/drawing/2014/main" id="{2D13841F-9CBE-C21A-5283-4F792595F14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38549" y="4843662"/>
            <a:ext cx="1035456" cy="437374"/>
          </a:xfrm>
          <a:prstGeom prst="rect">
            <a:avLst/>
          </a:prstGeom>
        </p:spPr>
      </p:pic>
    </p:spTree>
    <p:extLst>
      <p:ext uri="{BB962C8B-B14F-4D97-AF65-F5344CB8AC3E}">
        <p14:creationId xmlns:p14="http://schemas.microsoft.com/office/powerpoint/2010/main" val="1698596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44EE6B-B96E-1FF7-C58A-9C88004149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7150" y="2731011"/>
            <a:ext cx="1537007" cy="727278"/>
          </a:xfrm>
          <a:prstGeom prst="rect">
            <a:avLst/>
          </a:prstGeom>
        </p:spPr>
      </p:pic>
      <p:pic>
        <p:nvPicPr>
          <p:cNvPr id="5" name="Picture 4">
            <a:extLst>
              <a:ext uri="{FF2B5EF4-FFF2-40B4-BE49-F238E27FC236}">
                <a16:creationId xmlns:a16="http://schemas.microsoft.com/office/drawing/2014/main" id="{825C8CF4-E24F-B24C-D55E-1DB73453ABA3}"/>
              </a:ext>
            </a:extLst>
          </p:cNvPr>
          <p:cNvPicPr>
            <a:picLocks noChangeAspect="1"/>
          </p:cNvPicPr>
          <p:nvPr/>
        </p:nvPicPr>
        <p:blipFill>
          <a:blip r:embed="rId3"/>
          <a:srcRect l="-1466" r="47081"/>
          <a:stretch>
            <a:fillRect/>
          </a:stretch>
        </p:blipFill>
        <p:spPr>
          <a:xfrm>
            <a:off x="5515953" y="3480008"/>
            <a:ext cx="738881" cy="623474"/>
          </a:xfrm>
          <a:prstGeom prst="rect">
            <a:avLst/>
          </a:prstGeom>
        </p:spPr>
      </p:pic>
      <p:cxnSp>
        <p:nvCxnSpPr>
          <p:cNvPr id="7" name="Straight Arrow Connector 6">
            <a:extLst>
              <a:ext uri="{FF2B5EF4-FFF2-40B4-BE49-F238E27FC236}">
                <a16:creationId xmlns:a16="http://schemas.microsoft.com/office/drawing/2014/main" id="{66E6BA5F-AFA6-127D-132A-E7E90814E37D}"/>
              </a:ext>
            </a:extLst>
          </p:cNvPr>
          <p:cNvCxnSpPr>
            <a:cxnSpLocks/>
          </p:cNvCxnSpPr>
          <p:nvPr/>
        </p:nvCxnSpPr>
        <p:spPr>
          <a:xfrm>
            <a:off x="5665295" y="3356669"/>
            <a:ext cx="177210" cy="4556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AD0E4673-3F0E-A8E6-446C-BD3D24603D51}"/>
              </a:ext>
            </a:extLst>
          </p:cNvPr>
          <p:cNvCxnSpPr>
            <a:cxnSpLocks/>
          </p:cNvCxnSpPr>
          <p:nvPr/>
        </p:nvCxnSpPr>
        <p:spPr>
          <a:xfrm>
            <a:off x="5965467" y="3356669"/>
            <a:ext cx="97646" cy="4556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7647C26-F2E9-9B11-368B-A508521999CD}"/>
              </a:ext>
            </a:extLst>
          </p:cNvPr>
          <p:cNvSpPr txBox="1"/>
          <p:nvPr/>
        </p:nvSpPr>
        <p:spPr>
          <a:xfrm>
            <a:off x="5339808" y="2615285"/>
            <a:ext cx="1934840" cy="158057"/>
          </a:xfrm>
          <a:prstGeom prst="rect">
            <a:avLst/>
          </a:prstGeom>
          <a:noFill/>
        </p:spPr>
        <p:txBody>
          <a:bodyPr wrap="square">
            <a:spAutoFit/>
          </a:bodyPr>
          <a:lstStyle/>
          <a:p>
            <a:r>
              <a:rPr lang="en-CA" sz="427" dirty="0"/>
              <a:t>Earlier biological profiles may foreshadow later mood impairment</a:t>
            </a:r>
          </a:p>
        </p:txBody>
      </p:sp>
      <p:sp>
        <p:nvSpPr>
          <p:cNvPr id="18" name="TextBox 17">
            <a:extLst>
              <a:ext uri="{FF2B5EF4-FFF2-40B4-BE49-F238E27FC236}">
                <a16:creationId xmlns:a16="http://schemas.microsoft.com/office/drawing/2014/main" id="{C53E6268-7592-795B-FFEE-6D3195817AAF}"/>
              </a:ext>
            </a:extLst>
          </p:cNvPr>
          <p:cNvSpPr txBox="1"/>
          <p:nvPr/>
        </p:nvSpPr>
        <p:spPr>
          <a:xfrm>
            <a:off x="6279678" y="3584514"/>
            <a:ext cx="1446609" cy="552395"/>
          </a:xfrm>
          <a:prstGeom prst="rect">
            <a:avLst/>
          </a:prstGeom>
          <a:noFill/>
        </p:spPr>
        <p:txBody>
          <a:bodyPr wrap="square">
            <a:spAutoFit/>
          </a:bodyPr>
          <a:lstStyle/>
          <a:p>
            <a:r>
              <a:rPr lang="en-CA" sz="427" dirty="0"/>
              <a:t>If biological changes precede clinical expression, 0–1 year profiles may help predict 1–3 year SIS3 status, while 1–3 year signatures may help anticipate late-stage mood impairment beyond 3 years. This is a hypothesis from the this cross-sectional data; longitudinal data are needed to confirm within-patient biological progression.</a:t>
            </a:r>
          </a:p>
        </p:txBody>
      </p:sp>
    </p:spTree>
    <p:extLst>
      <p:ext uri="{BB962C8B-B14F-4D97-AF65-F5344CB8AC3E}">
        <p14:creationId xmlns:p14="http://schemas.microsoft.com/office/powerpoint/2010/main" val="200152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997</Words>
  <Application>Microsoft Office PowerPoint</Application>
  <PresentationFormat>Custom</PresentationFormat>
  <Paragraphs>36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 Gong</dc:creator>
  <cp:lastModifiedBy>Li Gong</cp:lastModifiedBy>
  <cp:revision>8</cp:revision>
  <dcterms:created xsi:type="dcterms:W3CDTF">2026-07-02T22:28:28Z</dcterms:created>
  <dcterms:modified xsi:type="dcterms:W3CDTF">2026-07-05T22:00:39Z</dcterms:modified>
</cp:coreProperties>
</file>