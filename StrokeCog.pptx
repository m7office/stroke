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62" r:id="rId4"/>
    <p:sldId id="260" r:id="rId5"/>
    <p:sldId id="259" r:id="rId6"/>
    <p:sldId id="263" r:id="rId7"/>
    <p:sldId id="264" r:id="rId8"/>
    <p:sldId id="265" r:id="rId9"/>
    <p:sldId id="267" r:id="rId10"/>
    <p:sldId id="277" r:id="rId11"/>
    <p:sldId id="270" r:id="rId12"/>
    <p:sldId id="278" r:id="rId13"/>
    <p:sldId id="271" r:id="rId14"/>
    <p:sldId id="269" r:id="rId15"/>
    <p:sldId id="268" r:id="rId16"/>
    <p:sldId id="266" r:id="rId17"/>
    <p:sldId id="274" r:id="rId18"/>
    <p:sldId id="272" r:id="rId19"/>
    <p:sldId id="280" r:id="rId20"/>
    <p:sldId id="279" r:id="rId21"/>
    <p:sldId id="276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723" autoAdjust="0"/>
  </p:normalViewPr>
  <p:slideViewPr>
    <p:cSldViewPr snapToGrid="0">
      <p:cViewPr>
        <p:scale>
          <a:sx n="100" d="100"/>
          <a:sy n="100" d="100"/>
        </p:scale>
        <p:origin x="954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579D8-1E49-4757-B5B6-80F0A8C2CECC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9A229-123F-41E7-81DB-A09700CC8D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709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9A229-123F-41E7-81DB-A09700CC8DF9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026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A024-872F-C02D-E758-569245893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79B38-E910-20D4-57A1-3DC63FC2F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E8F9C-8C7D-6921-E550-5125BEB4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95206-A582-0871-FF62-7CB74DA8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85740-5CC6-5369-5230-548C7002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353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A7D8-3CB3-322C-64B0-2099DCE3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BCE17-728A-A320-1792-662E7DB2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AF372-660A-CA72-AEF2-0D70E9D0C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DE10C-F65B-5430-6503-DF56AE92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EC431-2F29-CA27-110F-7573E7B6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13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744C-C221-C16F-FC80-0192E665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1E31-BCDE-64C0-9B41-E049B1251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BC92F-6F33-93A0-899B-43D0133A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4CE6E-A773-06EC-427E-86A4F4E7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B4751-0055-ACB9-7F33-9A37767D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329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8F10-9C3A-AE09-68D2-A9FD2E9D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2F7C2-06F8-2F60-E205-FE45C1DEC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EC13-2D6B-1D6F-02CB-B8D2123A7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E2965-1EBF-79F3-C830-0BDE7AC4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0E31C-CAEC-CD54-89F6-C10A4AF5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AB05-8B2B-236F-74CB-31CB24D4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802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E084-E7BF-ECB2-4110-24135E71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81C3F-06BB-CBB1-6CEE-92D7288D3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92DCE-A8E4-4695-0C16-2EE632B68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DAC3C-D420-3BA4-C753-AF3067C54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A071D-1E65-2DAD-13E0-190C416D6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6F02FA-FE43-6B53-8E63-EE3F8001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CC696-2969-AD8F-6788-7C013BA8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7A2C0-56F2-3C54-8192-EFA2E86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769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8483-2968-9640-84D0-24B8BD6C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12840-6342-E1E4-2097-7552C7D9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5CAB2-761D-0356-9FB4-F436E091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35492-FE43-DA8F-7595-5EF1FD4D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91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96036-1B90-FB3E-4CD6-D8D51038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F36FD-2DC5-2C3A-C1A0-C2151B3F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6800-9894-EF21-B2C1-0994540B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760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4D52-1ED0-CB19-665B-14B23991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54259-9B93-47E5-5CFF-986A2A29B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A5BD8-8D30-CB46-4BAE-BDFF6DDAD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46090-34DD-4E69-66D3-6ED8FE0C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1A0A2-6356-0055-CAB0-5B89124E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E284-A17A-FD6A-1546-1A5FE8C5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98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8FEF-2F4C-42BA-C862-BF532CCE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F0239-2304-1E05-FD71-0E10EE2DC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3EB75-48FC-CA9E-C975-852A7C8F0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8FE66-061B-CA92-5A9D-DB6D1526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722EF-7615-8CEB-7190-452B57432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D982A-583F-16B3-E6C4-B8D19FB3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634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B99B-FACD-2372-2483-F3CE6316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500F6-A34A-BF4B-6C73-4BBBF8291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53F7C-F9C8-BFD2-3D97-34D5A7FC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0F922-950A-3FD8-B516-56D11DCE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C32EC-FF1C-7526-382A-A2614F18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84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AF705-2AD8-43F2-87FC-4C830598A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FF5A0-9C81-CBB5-C8A3-436A9C0B1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05884-C1C9-4981-4DC2-70292841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95B74-AB16-86E1-5174-E12923F4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1563C-36F0-32FB-ABD0-21DD1853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203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1F6DB-DD4E-DC39-2D59-39049745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54E11-1A50-E4C2-563C-05D86C57E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6FA-206E-E96B-963D-01DFCA842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DAACC-802D-41C7-9E2E-CB0B8FD3C71D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09B41-2FA4-1F9B-D9F8-B59DD196A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3F603-76B2-A66C-4F83-8B98313A2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80090-24B0-42E1-A5E6-C6643BCB28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6254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C15BC62-8275-FC0D-44BB-6C4C4EFE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3804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B23C7D-F767-58E0-644C-0BACDC3C1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70328"/>
            <a:ext cx="12192000" cy="435029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D61690D-BD6E-F47D-72EF-4FD45E401A94}"/>
              </a:ext>
            </a:extLst>
          </p:cNvPr>
          <p:cNvSpPr/>
          <p:nvPr/>
        </p:nvSpPr>
        <p:spPr>
          <a:xfrm flipH="1">
            <a:off x="495299" y="4952450"/>
            <a:ext cx="1466851" cy="36195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258CC7-18B7-BDBF-A4D8-EA01759C1B98}"/>
              </a:ext>
            </a:extLst>
          </p:cNvPr>
          <p:cNvSpPr/>
          <p:nvPr/>
        </p:nvSpPr>
        <p:spPr>
          <a:xfrm flipH="1">
            <a:off x="495297" y="7752802"/>
            <a:ext cx="10782301" cy="6667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DCBC84-D8BF-F48D-72DC-D4A81E74A038}"/>
              </a:ext>
            </a:extLst>
          </p:cNvPr>
          <p:cNvSpPr/>
          <p:nvPr/>
        </p:nvSpPr>
        <p:spPr>
          <a:xfrm flipH="1">
            <a:off x="9220200" y="4952449"/>
            <a:ext cx="1800225" cy="36195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6C8779-F7FA-12EC-09A0-5A65897500F0}"/>
              </a:ext>
            </a:extLst>
          </p:cNvPr>
          <p:cNvSpPr/>
          <p:nvPr/>
        </p:nvSpPr>
        <p:spPr>
          <a:xfrm flipH="1">
            <a:off x="5876922" y="418552"/>
            <a:ext cx="5648323" cy="36100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814F2D-7BF4-5BF9-4246-0141B2E4E149}"/>
              </a:ext>
            </a:extLst>
          </p:cNvPr>
          <p:cNvSpPr/>
          <p:nvPr/>
        </p:nvSpPr>
        <p:spPr>
          <a:xfrm flipH="1">
            <a:off x="495297" y="2190201"/>
            <a:ext cx="3067051" cy="18478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B355A3-C1AA-FF83-3E9C-41502CCE1890}"/>
              </a:ext>
            </a:extLst>
          </p:cNvPr>
          <p:cNvSpPr txBox="1"/>
          <p:nvPr/>
        </p:nvSpPr>
        <p:spPr>
          <a:xfrm>
            <a:off x="1704975" y="2876002"/>
            <a:ext cx="133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Maturing pipeline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204528-C3AD-3333-8870-E0EBBB61893C}"/>
              </a:ext>
            </a:extLst>
          </p:cNvPr>
          <p:cNvSpPr txBox="1"/>
          <p:nvPr/>
        </p:nvSpPr>
        <p:spPr>
          <a:xfrm>
            <a:off x="8029575" y="418552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Less / no cognitive decline pathways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30DF91-0994-283D-F816-0EC90DDA16F6}"/>
              </a:ext>
            </a:extLst>
          </p:cNvPr>
          <p:cNvSpPr txBox="1"/>
          <p:nvPr/>
        </p:nvSpPr>
        <p:spPr>
          <a:xfrm>
            <a:off x="447675" y="4517939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Less / no cognitive decline pathways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04C15A-34ED-E7F8-C96E-5F315BB41A71}"/>
              </a:ext>
            </a:extLst>
          </p:cNvPr>
          <p:cNvSpPr txBox="1"/>
          <p:nvPr/>
        </p:nvSpPr>
        <p:spPr>
          <a:xfrm>
            <a:off x="8572500" y="4517939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Less / no cognitive decline pathways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EAA4F4-A832-B223-CC6B-ABD46FCC56F2}"/>
              </a:ext>
            </a:extLst>
          </p:cNvPr>
          <p:cNvSpPr txBox="1"/>
          <p:nvPr/>
        </p:nvSpPr>
        <p:spPr>
          <a:xfrm>
            <a:off x="5105400" y="7773221"/>
            <a:ext cx="133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Maturing 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44AD1-2EB1-BABD-57F7-5C40FACDC61D}"/>
              </a:ext>
            </a:extLst>
          </p:cNvPr>
          <p:cNvSpPr txBox="1"/>
          <p:nvPr/>
        </p:nvSpPr>
        <p:spPr>
          <a:xfrm>
            <a:off x="1873523" y="4887919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DC129C-72BE-D1A3-F09A-24644A0C8FE3}"/>
              </a:ext>
            </a:extLst>
          </p:cNvPr>
          <p:cNvSpPr txBox="1"/>
          <p:nvPr/>
        </p:nvSpPr>
        <p:spPr>
          <a:xfrm>
            <a:off x="9730860" y="4747121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53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F05189-7BB6-D2EB-CC2C-9AFA5922BCF1}"/>
              </a:ext>
            </a:extLst>
          </p:cNvPr>
          <p:cNvSpPr txBox="1"/>
          <p:nvPr/>
        </p:nvSpPr>
        <p:spPr>
          <a:xfrm>
            <a:off x="9553318" y="5000022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9408-8108-3289-BB06-5D5042AE428D}"/>
              </a:ext>
            </a:extLst>
          </p:cNvPr>
          <p:cNvSpPr txBox="1"/>
          <p:nvPr/>
        </p:nvSpPr>
        <p:spPr>
          <a:xfrm>
            <a:off x="10531218" y="5023741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735032-6622-CE1B-A4BC-49735E8A61C3}"/>
              </a:ext>
            </a:extLst>
          </p:cNvPr>
          <p:cNvSpPr txBox="1"/>
          <p:nvPr/>
        </p:nvSpPr>
        <p:spPr>
          <a:xfrm>
            <a:off x="4694237" y="7901511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38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6B33C-B38D-24CA-1930-0892289DDEBE}"/>
              </a:ext>
            </a:extLst>
          </p:cNvPr>
          <p:cNvSpPr txBox="1"/>
          <p:nvPr/>
        </p:nvSpPr>
        <p:spPr>
          <a:xfrm>
            <a:off x="1162889" y="2080187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584DA3-A6F7-4DA6-1CCC-E8D479B4E244}"/>
              </a:ext>
            </a:extLst>
          </p:cNvPr>
          <p:cNvSpPr txBox="1"/>
          <p:nvPr/>
        </p:nvSpPr>
        <p:spPr>
          <a:xfrm>
            <a:off x="1563960" y="2312646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61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EA7C5A-5845-25D6-97B9-460C3291FD25}"/>
              </a:ext>
            </a:extLst>
          </p:cNvPr>
          <p:cNvSpPr txBox="1"/>
          <p:nvPr/>
        </p:nvSpPr>
        <p:spPr>
          <a:xfrm>
            <a:off x="2160616" y="2053754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39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FF98A5-914E-AB20-A98C-74DEC17CA505}"/>
              </a:ext>
            </a:extLst>
          </p:cNvPr>
          <p:cNvSpPr txBox="1"/>
          <p:nvPr/>
        </p:nvSpPr>
        <p:spPr>
          <a:xfrm>
            <a:off x="3057401" y="2153380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20E5F7-50E6-5F3B-E794-3EBC8832EC2E}"/>
              </a:ext>
            </a:extLst>
          </p:cNvPr>
          <p:cNvSpPr txBox="1"/>
          <p:nvPr/>
        </p:nvSpPr>
        <p:spPr>
          <a:xfrm>
            <a:off x="5934100" y="410229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E0578E-21ED-6F57-355F-BA46075BF778}"/>
              </a:ext>
            </a:extLst>
          </p:cNvPr>
          <p:cNvSpPr txBox="1"/>
          <p:nvPr/>
        </p:nvSpPr>
        <p:spPr>
          <a:xfrm>
            <a:off x="6707748" y="481536"/>
            <a:ext cx="82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1490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3E2F5-6539-89FA-C3F4-F76487C32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76" y="389671"/>
            <a:ext cx="4163006" cy="5887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D95CE0-4A02-4F24-4261-E5293EA69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721" y="389671"/>
            <a:ext cx="4753638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67380-F157-39B2-5633-7DF55E84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015" y="4060292"/>
            <a:ext cx="7280235" cy="2721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0E822D-EF78-D69C-DAA4-425F829C0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2" y="0"/>
            <a:ext cx="5343033" cy="406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9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395AE4-BDFA-4E2B-7782-BA5647FA2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80" y="88900"/>
            <a:ext cx="11883382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645A1FA-380C-401E-8E70-C6185C3A797E}"/>
              </a:ext>
            </a:extLst>
          </p:cNvPr>
          <p:cNvSpPr txBox="1"/>
          <p:nvPr/>
        </p:nvSpPr>
        <p:spPr>
          <a:xfrm>
            <a:off x="2395180" y="495300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97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624179-4C37-EF34-BB06-5493CA05E56D}"/>
              </a:ext>
            </a:extLst>
          </p:cNvPr>
          <p:cNvSpPr txBox="1"/>
          <p:nvPr/>
        </p:nvSpPr>
        <p:spPr>
          <a:xfrm>
            <a:off x="4852630" y="506313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42B3BD-C092-2D10-A5CC-9A89BC0A6B8B}"/>
              </a:ext>
            </a:extLst>
          </p:cNvPr>
          <p:cNvSpPr txBox="1"/>
          <p:nvPr/>
        </p:nvSpPr>
        <p:spPr>
          <a:xfrm>
            <a:off x="5701519" y="509289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64EF97-47B1-BA95-BDB4-1A5C162B81DD}"/>
              </a:ext>
            </a:extLst>
          </p:cNvPr>
          <p:cNvSpPr txBox="1"/>
          <p:nvPr/>
        </p:nvSpPr>
        <p:spPr>
          <a:xfrm>
            <a:off x="4060186" y="506313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94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93EAF4-471A-B10C-E1C9-03795F2F4C8F}"/>
              </a:ext>
            </a:extLst>
          </p:cNvPr>
          <p:cNvSpPr txBox="1"/>
          <p:nvPr/>
        </p:nvSpPr>
        <p:spPr>
          <a:xfrm>
            <a:off x="10722358" y="506313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6BECE1-46B7-13C3-393C-916CF8846D9E}"/>
              </a:ext>
            </a:extLst>
          </p:cNvPr>
          <p:cNvSpPr txBox="1"/>
          <p:nvPr/>
        </p:nvSpPr>
        <p:spPr>
          <a:xfrm>
            <a:off x="9844189" y="495299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50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B7DC6D-6AB4-67B5-CA57-67ED3BFF89AA}"/>
              </a:ext>
            </a:extLst>
          </p:cNvPr>
          <p:cNvSpPr txBox="1"/>
          <p:nvPr/>
        </p:nvSpPr>
        <p:spPr>
          <a:xfrm>
            <a:off x="8238509" y="506313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BCBD52-2E5D-BCE4-9F07-68EBCE209D63}"/>
              </a:ext>
            </a:extLst>
          </p:cNvPr>
          <p:cNvSpPr txBox="1"/>
          <p:nvPr/>
        </p:nvSpPr>
        <p:spPr>
          <a:xfrm>
            <a:off x="9041349" y="495298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47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3435FC-3606-8D48-6E8F-99C887D98952}"/>
              </a:ext>
            </a:extLst>
          </p:cNvPr>
          <p:cNvSpPr txBox="1"/>
          <p:nvPr/>
        </p:nvSpPr>
        <p:spPr>
          <a:xfrm>
            <a:off x="7326291" y="507799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3E9424-DED5-F3E0-8FC5-D5B34FA86AC5}"/>
              </a:ext>
            </a:extLst>
          </p:cNvPr>
          <p:cNvSpPr txBox="1"/>
          <p:nvPr/>
        </p:nvSpPr>
        <p:spPr>
          <a:xfrm>
            <a:off x="6550768" y="506313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94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0E9A4E-A8E2-1EF8-0A97-0E8198182C38}"/>
              </a:ext>
            </a:extLst>
          </p:cNvPr>
          <p:cNvSpPr txBox="1"/>
          <p:nvPr/>
        </p:nvSpPr>
        <p:spPr>
          <a:xfrm>
            <a:off x="3247800" y="495297"/>
            <a:ext cx="48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07385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E25A7-F710-4061-87E5-76F63444A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08" y="232227"/>
            <a:ext cx="5581392" cy="3765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999B76-C765-8A00-0152-868EE6DB7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33" y="4378318"/>
            <a:ext cx="9983593" cy="2248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67671B-56DE-5814-4CA0-EDC1123C9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855" y="291852"/>
            <a:ext cx="5779607" cy="250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0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5092A7E-5430-A9FE-DA05-420E6C43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04" y="153670"/>
            <a:ext cx="6064634" cy="22673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F2C3BF-43D4-6E98-9295-B1FFE0E57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52" y="153670"/>
            <a:ext cx="6348747" cy="663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82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9304C-7960-03B7-5558-725CEAB91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40" y="637785"/>
            <a:ext cx="9631119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73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FFCC-6917-E9CD-22B5-42BE9FAB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1C8B3-7CFE-2E64-8B08-98CE6B6FC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Among patients in the early time since stroke, those with low SIS3 score may show dominated biological pathways. 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Heterogeneous pathways might happen on different patients. Some pathways might be more unfavorable than others in terms of SIS3 slope. (unfavorable pathway vs mild pathway)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With a given pathway, the SIS3 slope may also depend on the patient's current SIS3 score. 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7450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2EE2-934D-0A71-7B78-2022CF3C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58" y="171983"/>
            <a:ext cx="10515600" cy="1325563"/>
          </a:xfrm>
        </p:spPr>
        <p:txBody>
          <a:bodyPr/>
          <a:lstStyle/>
          <a:p>
            <a:r>
              <a:rPr lang="en-CA" dirty="0"/>
              <a:t>Use pathway vs protein to predict SIS3 score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E963624-75DF-1523-5077-B86868CC8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07" y="1497546"/>
            <a:ext cx="3716693" cy="231915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A579E41-5196-CDE1-9808-4C9EF951C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5" y="1183869"/>
            <a:ext cx="8125906" cy="269681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B7E76EA-1995-2621-7374-BB5EDDB6C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51" y="3816702"/>
            <a:ext cx="7932693" cy="263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09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5BDC3-D6C3-2834-9F49-D6D9BE44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5141D2CE-38FA-4F67-9D39-47CDB21BA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52" y="3653625"/>
            <a:ext cx="7833187" cy="24826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67C4677-F622-A29C-25C5-F15B81AFF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52" y="1084932"/>
            <a:ext cx="7739479" cy="24529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128647-0477-A2E8-AF8C-56771080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58" y="171983"/>
            <a:ext cx="10515600" cy="1325563"/>
          </a:xfrm>
        </p:spPr>
        <p:txBody>
          <a:bodyPr/>
          <a:lstStyle/>
          <a:p>
            <a:r>
              <a:rPr lang="en-CA" dirty="0"/>
              <a:t>Use pathway vs protein to predict SIS3 score</a:t>
            </a:r>
          </a:p>
        </p:txBody>
      </p:sp>
    </p:spTree>
    <p:extLst>
      <p:ext uri="{BB962C8B-B14F-4D97-AF65-F5344CB8AC3E}">
        <p14:creationId xmlns:p14="http://schemas.microsoft.com/office/powerpoint/2010/main" val="240887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1A0CA-4931-A519-4C8D-612F3A3D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9" y="-1"/>
            <a:ext cx="6536105" cy="2168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04D79A-6DBD-6163-B1BB-3F368F943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92" y="4596207"/>
            <a:ext cx="6621869" cy="2194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39E90B-8C6F-8771-5813-EF1C17EA7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56" y="2261793"/>
            <a:ext cx="6536105" cy="216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5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ED6D-869C-3254-4A0A-D3072940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56B79D-1F3F-CBF9-FCD5-4A71BC5AA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24" y="3357439"/>
            <a:ext cx="9542159" cy="32257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97652B-E70B-5F6A-A9EC-1D6513371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42766" cy="319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88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23C501-550D-38FB-F298-041F7D9F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75" y="569568"/>
            <a:ext cx="3516110" cy="2242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F0C273-457B-75E1-7C85-5BD6C79C3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11" y="3429000"/>
            <a:ext cx="3803238" cy="24474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9CEDF2-F3ED-9FB0-13FD-0FDAE21DC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445" y="530841"/>
            <a:ext cx="3598785" cy="23354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6101EC-B52D-9A01-462D-89CC88393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563" y="3429000"/>
            <a:ext cx="3800546" cy="24474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BAB792-CE15-4177-D36E-1BEFB7BDD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615" y="500204"/>
            <a:ext cx="3598785" cy="231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2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8132-5A48-E653-B641-71734EC2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narrow down pathways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00CC9-D1C9-668F-3357-2C95FED12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031" y="1241407"/>
            <a:ext cx="4685969" cy="5370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065819-15DC-F255-C1D9-70977C3C3743}"/>
              </a:ext>
            </a:extLst>
          </p:cNvPr>
          <p:cNvSpPr txBox="1"/>
          <p:nvPr/>
        </p:nvSpPr>
        <p:spPr>
          <a:xfrm>
            <a:off x="388160" y="6050943"/>
            <a:ext cx="6060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we don’t force all 473 unassigned proteins into pathways,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126BB2-DDFD-7B73-8F99-92AC9BC8D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" y="1574515"/>
            <a:ext cx="5638930" cy="360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54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B406-BEFC-016D-B740-F3238EED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Heterogenous patients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1F5A0-CF30-667C-6586-2D43BF98D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93" y="1238800"/>
            <a:ext cx="7413435" cy="2663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D8EB88-E87B-95E8-967D-4B37A625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59" y="3902335"/>
            <a:ext cx="7645446" cy="27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4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1A46-1EAB-1970-14FC-632844F5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429246" cy="1325563"/>
          </a:xfrm>
        </p:spPr>
        <p:txBody>
          <a:bodyPr>
            <a:noAutofit/>
          </a:bodyPr>
          <a:lstStyle/>
          <a:p>
            <a:r>
              <a:rPr lang="en-CA" sz="2400" dirty="0"/>
              <a:t>patients with low SIS3 score may show dominated biological pathways. </a:t>
            </a:r>
            <a:br>
              <a:rPr lang="en-CA" sz="2400" dirty="0"/>
            </a:b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1B62B4-FEE0-B452-F9B0-FE2D8FEA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22" y="1027906"/>
            <a:ext cx="3637252" cy="2818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E66A0C-4EDD-4D20-2BC6-1D38DF43C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724" y="1019072"/>
            <a:ext cx="3951208" cy="2836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CC7CD2-65EE-6FB4-37EE-0ED26A480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724" y="3846565"/>
            <a:ext cx="3951208" cy="2846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41401-F6AA-3EB7-7285-D3ACABC5C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3930236"/>
            <a:ext cx="3360574" cy="268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9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F64C-5E49-143B-1134-E503A2FB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CB4BE3-AFFC-2C6D-12B0-32DA922AA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27" y="514350"/>
            <a:ext cx="5879826" cy="36326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DCF77B-1234-6518-634C-47BBBBA6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874" y="291400"/>
            <a:ext cx="6201186" cy="38555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E13B37-D6A1-7C0E-1A76-3DB34121C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003" y="4543565"/>
            <a:ext cx="2931969" cy="21408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283251-69C2-B704-606E-FA4515566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09" y="4457440"/>
            <a:ext cx="3369845" cy="232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31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5487-AB45-D42B-E4C5-6B0507CA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No pathway showed strong evidence of a continuous pathway × time interaction in either the unadjusted or adjusted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54522-9A97-CC28-42D6-452100993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14" y="1626778"/>
            <a:ext cx="4520221" cy="2561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EF843C-3050-1786-CD65-03BCAC3B0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05" y="4393740"/>
            <a:ext cx="3985294" cy="1174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5DA316-587C-7373-74CE-E81671FA0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2" y="1626778"/>
            <a:ext cx="3476264" cy="2561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EE1F3-98F7-4CDA-654F-98A101C98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853" y="4393740"/>
            <a:ext cx="3519365" cy="2015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20B16E-DFA7-6A36-0518-8A2F7F5A8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4" y="1413689"/>
            <a:ext cx="3317426" cy="2941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E55F97-8C36-41B6-E957-A59553CE5D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835" y="4470621"/>
            <a:ext cx="3605555" cy="229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021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55684-3F5E-46D3-70A8-8A162825A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9B37-A8AA-0DD0-BD3E-7A22F420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32108-0035-C9AC-5DC4-EC4385AF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73"/>
          <a:stretch>
            <a:fillRect/>
          </a:stretch>
        </p:blipFill>
        <p:spPr>
          <a:xfrm>
            <a:off x="3067029" y="3633559"/>
            <a:ext cx="3028971" cy="2611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A7B090-7402-1542-B565-9A1887AE4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59" y="-42849"/>
            <a:ext cx="10829925" cy="351563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A42737-C716-DECC-0E37-71416BA5E045}"/>
              </a:ext>
            </a:extLst>
          </p:cNvPr>
          <p:cNvCxnSpPr/>
          <p:nvPr/>
        </p:nvCxnSpPr>
        <p:spPr>
          <a:xfrm>
            <a:off x="3232800" y="3052800"/>
            <a:ext cx="1173600" cy="1404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57B317-2EF5-86AA-EEA4-35A07E15A486}"/>
              </a:ext>
            </a:extLst>
          </p:cNvPr>
          <p:cNvCxnSpPr/>
          <p:nvPr/>
        </p:nvCxnSpPr>
        <p:spPr>
          <a:xfrm>
            <a:off x="4508400" y="3147600"/>
            <a:ext cx="1173600" cy="1404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B11DEA9-2700-AD3D-3B2A-877FBDB9C0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61"/>
          <a:stretch>
            <a:fillRect/>
          </a:stretch>
        </p:blipFill>
        <p:spPr>
          <a:xfrm>
            <a:off x="8823467" y="3648371"/>
            <a:ext cx="3028972" cy="288743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EFA4F6-C643-1272-FB95-F0A2FB977979}"/>
              </a:ext>
            </a:extLst>
          </p:cNvPr>
          <p:cNvCxnSpPr/>
          <p:nvPr/>
        </p:nvCxnSpPr>
        <p:spPr>
          <a:xfrm>
            <a:off x="9256200" y="3095978"/>
            <a:ext cx="1173600" cy="1404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324C9B-A57D-D790-1C44-27E27DD46038}"/>
              </a:ext>
            </a:extLst>
          </p:cNvPr>
          <p:cNvCxnSpPr/>
          <p:nvPr/>
        </p:nvCxnSpPr>
        <p:spPr>
          <a:xfrm>
            <a:off x="10531800" y="3190778"/>
            <a:ext cx="1173600" cy="1404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308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9474-0481-FA89-BBE7-BDEFE4FD9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C8D3-6F76-BCCC-ABE2-C1E87C54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06A50-A49F-EDC3-CFE2-2E038ECFF7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73"/>
          <a:stretch>
            <a:fillRect/>
          </a:stretch>
        </p:blipFill>
        <p:spPr>
          <a:xfrm>
            <a:off x="2190729" y="3880763"/>
            <a:ext cx="3028971" cy="2611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06111A-ADC6-6505-2760-853C21BBE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00"/>
          <a:stretch>
            <a:fillRect/>
          </a:stretch>
        </p:blipFill>
        <p:spPr>
          <a:xfrm>
            <a:off x="191259" y="-42849"/>
            <a:ext cx="5490741" cy="35156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ADA11C-8DFC-9099-B8A7-ACC9416D8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000" y="3183115"/>
            <a:ext cx="5944738" cy="354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00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BE20048-FD42-CF91-8116-5FCF545F3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012"/>
            <a:ext cx="12192000" cy="461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38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2743-B37E-88CA-0EFE-906C7E63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A81632-FA50-23CF-BD6E-7E82FDCED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1966708"/>
            <a:ext cx="9735909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5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38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pathway vs protein to predict SIS3 score</vt:lpstr>
      <vt:lpstr>Use pathway vs protein to predict SIS3 score</vt:lpstr>
      <vt:lpstr>PowerPoint Presentation</vt:lpstr>
      <vt:lpstr>PowerPoint Presentation</vt:lpstr>
      <vt:lpstr>PowerPoint Presentation</vt:lpstr>
      <vt:lpstr>How to narrow down pathways</vt:lpstr>
      <vt:lpstr>Heterogenous patients</vt:lpstr>
      <vt:lpstr>patients with low SIS3 score may show dominated biological pathways.  </vt:lpstr>
      <vt:lpstr>PowerPoint Presentation</vt:lpstr>
      <vt:lpstr>No pathway showed strong evidence of a continuous pathway × time interaction in either the unadjusted or adjusted model.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ICW108 (CAF)</dc:creator>
  <cp:lastModifiedBy>Li Gong</cp:lastModifiedBy>
  <cp:revision>9</cp:revision>
  <dcterms:created xsi:type="dcterms:W3CDTF">2026-06-22T20:35:14Z</dcterms:created>
  <dcterms:modified xsi:type="dcterms:W3CDTF">2026-07-02T23:49:26Z</dcterms:modified>
</cp:coreProperties>
</file>