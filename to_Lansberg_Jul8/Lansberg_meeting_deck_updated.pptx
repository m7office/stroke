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8" r:id="rId12"/>
    <p:sldId id="267" r:id="rId13"/>
    <p:sldId id="266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8777" autoAdjust="0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348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462171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Opening script: Thank Dr. Lansberg for meeting. Emphasize that this is a preliminary, hypothesis-generating analysis using cross-sectional StrokeCog clinical and plasma proteomic data. The goal is not to claim prediction yet, but to ask whether the stress–repair imbalance feature is biologically reasonable and worth testing longitudinally.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this slide only briefly. You want the meeting to feel like a scientific discussion. Say that the purpose is to learn how he would shape the direction and what next analysis would be most credible.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Emphasize that the outcome is SIS3, the Stroke Impact Scale emotion domain. This is not a depression diagnosis and not a broad cognition endpoint. The gap is the timing and biological interpretation of delayed emotional vulnerability.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Say: The value is not a single pathway. The value is a derived feature that summarizes a biologically meaningful mismatch. Lower SIS3 appeared to be associated with stress predominance and weaker repair/remodeling signals. This is why the imbalance feature may be more useful than isolated pathway interpretation.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Avoid saying time-dependent biology is novel. Say: time-dependent biology is expected. The interesting question is whether the biology linked to lower SIS3 is stable or stage-dependent. The cross-sectional result raises that longitudinal hypothesis.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most important proposal slide. Emphasize status and trajectory. The key phrase: candidate indicator of future emotional vulnerability, if longitudinally validated.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where the meeting can become exciting. Explain that if the imbalance is present before decline, then it is not only a correlate of current emotional state, but a candidate indicator of future vulnerability.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this slide if he asks what is new. Say directly: time-dependent biology after stroke is common sense; the value here is deriving an imbalance feature and testing whether it precedes emotional decline.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backup slide helps if he asks about methods or limitations. Keep the tone careful: exploratory, biologically organized, ready for longitudinal testing.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this to end the meeting. Do not ask directly for a job at the beginning. Let the scientific discussion lead into fit and opportunity.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Relationship Id="rId9" Type="http://schemas.openxmlformats.org/officeDocument/2006/relationships/image" Target="../media/image1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CA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F6F9F"/>
          </a:solidFill>
          <a:ln w="12700">
            <a:solidFill>
              <a:srgbClr val="2F6F9F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4" name="Text 2"/>
          <p:cNvSpPr/>
          <p:nvPr/>
        </p:nvSpPr>
        <p:spPr>
          <a:xfrm>
            <a:off x="594360" y="71323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F6F9F"/>
                </a:solidFill>
              </a:rPr>
              <a:t>Discussion deck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94360" y="1143000"/>
            <a:ext cx="99669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200" b="1" dirty="0">
                <a:solidFill>
                  <a:srgbClr val="1E1E1E"/>
                </a:solidFill>
              </a:rPr>
              <a:t>Stress–Repair Proteomic Imbalance and SIS Emotion After Stroke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621792" y="2532888"/>
            <a:ext cx="8138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50" dirty="0">
                <a:solidFill>
                  <a:srgbClr val="5F6368"/>
                </a:solidFill>
              </a:rPr>
              <a:t>Preliminary cross-sectional StrokeCog analysis</a:t>
            </a:r>
            <a:endParaRPr lang="en-US" sz="1750" dirty="0"/>
          </a:p>
          <a:p>
            <a:pPr marL="0" indent="0">
              <a:buNone/>
            </a:pPr>
            <a:r>
              <a:rPr lang="en-US" sz="1750" dirty="0">
                <a:solidFill>
                  <a:srgbClr val="5F6368"/>
                </a:solidFill>
              </a:rPr>
              <a:t>for scientific feedback and longitudinal-project discussion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594360" y="3895344"/>
            <a:ext cx="3749040" cy="1051560"/>
          </a:xfrm>
          <a:prstGeom prst="rect">
            <a:avLst/>
          </a:prstGeom>
          <a:solidFill>
            <a:srgbClr val="EAF3F8"/>
          </a:solidFill>
          <a:ln w="8890">
            <a:solidFill>
              <a:srgbClr val="EAF3F8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l">
              <a:buNone/>
            </a:pPr>
            <a:r>
              <a:rPr lang="en-US" sz="1550" dirty="0">
                <a:solidFill>
                  <a:srgbClr val="1E1E1E"/>
                </a:solidFill>
              </a:rPr>
              <a:t>Core idea</a:t>
            </a:r>
            <a:endParaRPr lang="en-US" sz="1550" dirty="0"/>
          </a:p>
          <a:p>
            <a:pPr marL="0" indent="0" algn="l">
              <a:buNone/>
            </a:pPr>
            <a:r>
              <a:rPr lang="en-US" sz="1550" dirty="0">
                <a:solidFill>
                  <a:srgbClr val="1E1E1E"/>
                </a:solidFill>
              </a:rPr>
              <a:t>A derived stress–repair imbalance feature may summarize emotional vulnerability better than isolated pathway changes.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4526280" y="3895344"/>
            <a:ext cx="3749040" cy="1051560"/>
          </a:xfrm>
          <a:prstGeom prst="rect">
            <a:avLst/>
          </a:prstGeom>
          <a:solidFill>
            <a:srgbClr val="FFF1E5"/>
          </a:solidFill>
          <a:ln w="8890">
            <a:solidFill>
              <a:srgbClr val="FFF1E5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l">
              <a:buNone/>
            </a:pPr>
            <a:r>
              <a:rPr lang="en-US" sz="1550" dirty="0">
                <a:solidFill>
                  <a:srgbClr val="1E1E1E"/>
                </a:solidFill>
              </a:rPr>
              <a:t>Longitudinal question</a:t>
            </a:r>
            <a:endParaRPr lang="en-US" sz="1550" dirty="0"/>
          </a:p>
          <a:p>
            <a:pPr marL="0" indent="0" algn="l">
              <a:buNone/>
            </a:pPr>
            <a:r>
              <a:rPr lang="en-US" sz="1550" dirty="0">
                <a:solidFill>
                  <a:srgbClr val="1E1E1E"/>
                </a:solidFill>
              </a:rPr>
              <a:t>Does this proteomic imbalance appear before later SIS emotion decline?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8458200" y="3895344"/>
            <a:ext cx="3108960" cy="1051560"/>
          </a:xfrm>
          <a:prstGeom prst="rect">
            <a:avLst/>
          </a:prstGeom>
          <a:solidFill>
            <a:srgbClr val="EEF5EF"/>
          </a:solidFill>
          <a:ln w="8890">
            <a:solidFill>
              <a:srgbClr val="EEF5EF"/>
            </a:solidFill>
          </a:ln>
        </p:spPr>
        <p:txBody>
          <a:bodyPr wrap="square" lIns="1524" tIns="1524" rIns="1524" bIns="1524" rtlCol="0" anchor="ctr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1550" dirty="0">
                <a:solidFill>
                  <a:srgbClr val="1E1E1E"/>
                </a:solidFill>
              </a:rPr>
              <a:t>Meeting purpose</a:t>
            </a:r>
            <a:endParaRPr lang="en-US" sz="1550" dirty="0"/>
          </a:p>
          <a:p>
            <a:pPr marL="0" indent="0" algn="l">
              <a:buNone/>
            </a:pPr>
            <a:r>
              <a:rPr lang="en-US" sz="1550" dirty="0">
                <a:solidFill>
                  <a:srgbClr val="1E1E1E"/>
                </a:solidFill>
              </a:rPr>
              <a:t>Get your judgment on framing, validation strategy, and feasible next steps.</a:t>
            </a:r>
          </a:p>
          <a:p>
            <a:r>
              <a:rPr lang="en-US" sz="1400" b="1" dirty="0">
                <a:solidFill>
                  <a:srgbClr val="23455B"/>
                </a:solidFill>
              </a:rPr>
              <a:t>use the preliminary signal as a concrete starting point for expert feedback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594360" y="5989320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F6368"/>
                </a:solidFill>
              </a:rPr>
              <a:t>Li Gong · PhD candidate, University of Toronto / Sunnybrook Research Institute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502920" y="6528816"/>
            <a:ext cx="7863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F6368"/>
                </a:solidFill>
              </a:rPr>
              <a:t>Discussion with Dr. Lansberg</a:t>
            </a:r>
            <a:endParaRPr lang="en-US" sz="850" dirty="0"/>
          </a:p>
        </p:txBody>
      </p:sp>
      <p:sp>
        <p:nvSpPr>
          <p:cNvPr id="13" name="Text 10"/>
          <p:cNvSpPr/>
          <p:nvPr/>
        </p:nvSpPr>
        <p:spPr>
          <a:xfrm>
            <a:off x="10835640" y="6528816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F6368"/>
                </a:solidFill>
              </a:rPr>
              <a:t>Li Gong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4480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F6F9F"/>
                </a:solidFill>
              </a:rPr>
              <a:t>MEETING PURPOSE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77240" y="1828800"/>
            <a:ext cx="3108960" cy="1188720"/>
          </a:xfrm>
          <a:prstGeom prst="rect">
            <a:avLst/>
          </a:prstGeom>
          <a:solidFill>
            <a:srgbClr val="EAF3F8"/>
          </a:solidFill>
          <a:ln w="8890">
            <a:solidFill>
              <a:srgbClr val="EAF3F8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1E1E"/>
                </a:solidFill>
              </a:rPr>
              <a:t>1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b="1" dirty="0">
                <a:solidFill>
                  <a:srgbClr val="1E1E1E"/>
                </a:solidFill>
              </a:rPr>
              <a:t>Refine the biological framing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26280" y="1828800"/>
            <a:ext cx="3108960" cy="1188720"/>
          </a:xfrm>
          <a:prstGeom prst="rect">
            <a:avLst/>
          </a:prstGeom>
          <a:solidFill>
            <a:srgbClr val="FFF1E5"/>
          </a:solidFill>
          <a:ln w="8890">
            <a:solidFill>
              <a:srgbClr val="FFF1E5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1E1E"/>
                </a:solidFill>
              </a:rPr>
              <a:t>2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b="1" dirty="0">
                <a:solidFill>
                  <a:srgbClr val="1E1E1E"/>
                </a:solidFill>
              </a:rPr>
              <a:t>Decide the strongest next analysis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275320" y="1828800"/>
            <a:ext cx="3108960" cy="1188720"/>
          </a:xfrm>
          <a:prstGeom prst="rect">
            <a:avLst/>
          </a:prstGeom>
          <a:solidFill>
            <a:srgbClr val="EEF5EF"/>
          </a:solidFill>
          <a:ln w="8890">
            <a:solidFill>
              <a:srgbClr val="EEF5EF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750" b="1" dirty="0">
                <a:solidFill>
                  <a:srgbClr val="1E1E1E"/>
                </a:solidFill>
              </a:rPr>
              <a:t>3</a:t>
            </a:r>
            <a:endParaRPr lang="en-US" sz="1750" dirty="0"/>
          </a:p>
          <a:p>
            <a:pPr marL="0" indent="0" algn="ctr">
              <a:buNone/>
            </a:pPr>
            <a:r>
              <a:rPr lang="en-US" sz="1750" b="1" dirty="0">
                <a:solidFill>
                  <a:srgbClr val="1E1E1E"/>
                </a:solidFill>
              </a:rPr>
              <a:t>Explore whether this could grow into a fellowship-style project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4782463" y="1006218"/>
            <a:ext cx="3657600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F6F9F"/>
                </a:solidFill>
              </a:rPr>
              <a:t>Specific questions for discussion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502920" y="6528816"/>
            <a:ext cx="7863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F6368"/>
                </a:solidFill>
              </a:rPr>
              <a:t>Preliminary, hypothesis-generating analysis for discussion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10835640" y="6528816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F6368"/>
                </a:solidFill>
              </a:rPr>
              <a:t>Li Gong</a:t>
            </a:r>
            <a:endParaRPr lang="en-US" sz="85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34060AA-4DA4-79C1-4843-7C785F621D98}"/>
              </a:ext>
            </a:extLst>
          </p:cNvPr>
          <p:cNvSpPr txBox="1"/>
          <p:nvPr/>
        </p:nvSpPr>
        <p:spPr>
          <a:xfrm>
            <a:off x="754569" y="3075902"/>
            <a:ext cx="3108960" cy="8771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1E1E1E"/>
                </a:solidFill>
              </a:rPr>
              <a:t>Is “stress–repair imbalance” the right biological summary feature?</a:t>
            </a:r>
            <a:endParaRPr lang="en-US" sz="17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50B5640-B6CA-4294-ED20-897A995EE41B}"/>
              </a:ext>
            </a:extLst>
          </p:cNvPr>
          <p:cNvSpPr txBox="1"/>
          <p:nvPr/>
        </p:nvSpPr>
        <p:spPr>
          <a:xfrm>
            <a:off x="4434840" y="3077867"/>
            <a:ext cx="3200400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1E1E1E"/>
                </a:solidFill>
              </a:rPr>
              <a:t>Would longitudinal SIS3 trajectory be the right outcome?</a:t>
            </a:r>
            <a:endParaRPr lang="en-US" sz="17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D858787-86CF-CBE2-C9C1-90DCC2A2E6D6}"/>
              </a:ext>
            </a:extLst>
          </p:cNvPr>
          <p:cNvSpPr txBox="1"/>
          <p:nvPr/>
        </p:nvSpPr>
        <p:spPr>
          <a:xfrm>
            <a:off x="8133248" y="3123113"/>
            <a:ext cx="3571072" cy="11387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700" dirty="0">
                <a:solidFill>
                  <a:srgbClr val="1E1E1E"/>
                </a:solidFill>
              </a:rPr>
              <a:t>What would make the hypothesis most convincing: repeated proteomics, imaging integration, or external validation?</a:t>
            </a:r>
            <a:endParaRPr lang="en-CA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4480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F6F9F"/>
                </a:solidFill>
              </a:rPr>
              <a:t>SIGNIFICANCE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438912"/>
            <a:ext cx="10972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1E1E"/>
                </a:solidFill>
              </a:rPr>
              <a:t>Clinical motivation and knowledge gap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969264"/>
            <a:ext cx="11201400" cy="4023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3455B"/>
                </a:solidFill>
              </a:rPr>
              <a:t>The unmet need is not just identifying current mood status, but recognizing who may need closer long-term monitoring.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02920" y="1444752"/>
            <a:ext cx="11201400" cy="0"/>
          </a:xfrm>
          <a:prstGeom prst="line">
            <a:avLst/>
          </a:prstGeom>
          <a:noFill/>
          <a:ln w="10160">
            <a:solidFill>
              <a:srgbClr val="C8CED3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6" name="Text 4"/>
          <p:cNvSpPr/>
          <p:nvPr/>
        </p:nvSpPr>
        <p:spPr>
          <a:xfrm>
            <a:off x="685800" y="1828800"/>
            <a:ext cx="3474720" cy="1325880"/>
          </a:xfrm>
          <a:prstGeom prst="rect">
            <a:avLst/>
          </a:prstGeom>
          <a:solidFill>
            <a:srgbClr val="F5F5F3"/>
          </a:solidFill>
          <a:ln w="8890">
            <a:solidFill>
              <a:srgbClr val="DDDDDD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l">
              <a:buNone/>
            </a:pPr>
            <a:r>
              <a:rPr lang="en-US" sz="1530" dirty="0">
                <a:solidFill>
                  <a:srgbClr val="1E1E1E"/>
                </a:solidFill>
              </a:rPr>
              <a:t>Clinical problem</a:t>
            </a:r>
            <a:endParaRPr lang="en-US" sz="1530" dirty="0"/>
          </a:p>
          <a:p>
            <a:pPr marL="0" indent="0" algn="l">
              <a:buNone/>
            </a:pPr>
            <a:r>
              <a:rPr lang="en-US" sz="1530" dirty="0">
                <a:solidFill>
                  <a:srgbClr val="1E1E1E"/>
                </a:solidFill>
              </a:rPr>
              <a:t>Some stroke survivors experience persistent or delayed mood/emotional vulnerability that affects quality of life and long-term recovery.</a:t>
            </a:r>
            <a:endParaRPr lang="en-US" sz="1530" dirty="0"/>
          </a:p>
        </p:txBody>
      </p:sp>
      <p:sp>
        <p:nvSpPr>
          <p:cNvPr id="7" name="Text 5"/>
          <p:cNvSpPr/>
          <p:nvPr/>
        </p:nvSpPr>
        <p:spPr>
          <a:xfrm>
            <a:off x="4389120" y="1828800"/>
            <a:ext cx="3474720" cy="1325880"/>
          </a:xfrm>
          <a:prstGeom prst="rect">
            <a:avLst/>
          </a:prstGeom>
          <a:solidFill>
            <a:srgbClr val="F5F5F3"/>
          </a:solidFill>
          <a:ln w="8890">
            <a:solidFill>
              <a:srgbClr val="DDDDDD"/>
            </a:solidFill>
          </a:ln>
        </p:spPr>
        <p:txBody>
          <a:bodyPr wrap="square" lIns="1524" tIns="1524" rIns="1524" bIns="1524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530" dirty="0">
                <a:solidFill>
                  <a:srgbClr val="1E1E1E"/>
                </a:solidFill>
              </a:rPr>
              <a:t>Current gap</a:t>
            </a:r>
            <a:endParaRPr lang="en-US" sz="1530" dirty="0"/>
          </a:p>
          <a:p>
            <a:pPr marL="0" indent="0" algn="l">
              <a:buNone/>
            </a:pPr>
            <a:r>
              <a:rPr lang="en-US" sz="1530" dirty="0">
                <a:solidFill>
                  <a:srgbClr val="1E1E1E"/>
                </a:solidFill>
              </a:rPr>
              <a:t>It remains unclear which patients need closer monitoring, when biological vulnerability emerges, and what mechanisms should guide intervention strategies.</a:t>
            </a:r>
            <a:endParaRPr lang="en-US" sz="1530" dirty="0"/>
          </a:p>
        </p:txBody>
      </p:sp>
      <p:sp>
        <p:nvSpPr>
          <p:cNvPr id="8" name="Text 6"/>
          <p:cNvSpPr/>
          <p:nvPr/>
        </p:nvSpPr>
        <p:spPr>
          <a:xfrm>
            <a:off x="8092440" y="1828800"/>
            <a:ext cx="3474720" cy="1325880"/>
          </a:xfrm>
          <a:prstGeom prst="rect">
            <a:avLst/>
          </a:prstGeom>
          <a:solidFill>
            <a:srgbClr val="F5F5F3"/>
          </a:solidFill>
          <a:ln w="8890">
            <a:solidFill>
              <a:srgbClr val="DDDDDD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l">
              <a:buNone/>
            </a:pPr>
            <a:r>
              <a:rPr lang="en-US" sz="1530" dirty="0">
                <a:solidFill>
                  <a:srgbClr val="1E1E1E"/>
                </a:solidFill>
              </a:rPr>
              <a:t>Opportunity</a:t>
            </a:r>
            <a:endParaRPr lang="en-US" sz="1530" dirty="0"/>
          </a:p>
          <a:p>
            <a:pPr marL="0" indent="0" algn="l">
              <a:buNone/>
            </a:pPr>
            <a:r>
              <a:rPr lang="en-US" sz="1530" dirty="0">
                <a:solidFill>
                  <a:srgbClr val="1E1E1E"/>
                </a:solidFill>
              </a:rPr>
              <a:t>Plasma proteomic profiles may provide an interpretable window into biological states not fully captured by clinical scores alone.</a:t>
            </a:r>
            <a:endParaRPr lang="en-US" sz="1530" dirty="0"/>
          </a:p>
        </p:txBody>
      </p:sp>
      <p:sp>
        <p:nvSpPr>
          <p:cNvPr id="9" name="Shape 7"/>
          <p:cNvSpPr/>
          <p:nvPr/>
        </p:nvSpPr>
        <p:spPr>
          <a:xfrm>
            <a:off x="2148840" y="3822192"/>
            <a:ext cx="8001000" cy="0"/>
          </a:xfrm>
          <a:prstGeom prst="line">
            <a:avLst/>
          </a:prstGeom>
          <a:noFill/>
          <a:ln w="15240">
            <a:solidFill>
              <a:srgbClr val="C8CED3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CA"/>
          </a:p>
        </p:txBody>
      </p:sp>
      <p:sp>
        <p:nvSpPr>
          <p:cNvPr id="10" name="Text 8"/>
          <p:cNvSpPr/>
          <p:nvPr/>
        </p:nvSpPr>
        <p:spPr>
          <a:xfrm>
            <a:off x="1143000" y="4041648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5F6368"/>
                </a:solidFill>
              </a:rPr>
              <a:t>Current SIS3 status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892040" y="4041648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5F6368"/>
                </a:solidFill>
              </a:rPr>
              <a:t>Biological vulnerability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8915400" y="4041648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5F6368"/>
                </a:solidFill>
              </a:rPr>
              <a:t>Future SIS3 decline?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1051560" y="4791456"/>
            <a:ext cx="10149840" cy="868680"/>
          </a:xfrm>
          <a:prstGeom prst="rect">
            <a:avLst/>
          </a:prstGeom>
          <a:solidFill>
            <a:srgbClr val="EAF3F8"/>
          </a:solidFill>
          <a:ln w="8890">
            <a:solidFill>
              <a:srgbClr val="EAF3F8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1E1E1E"/>
                </a:solidFill>
              </a:rPr>
              <a:t>First step in this proposal</a:t>
            </a:r>
            <a:endParaRPr lang="en-US" sz="1600" dirty="0"/>
          </a:p>
          <a:p>
            <a:pPr marL="0" indent="0" algn="l">
              <a:buNone/>
            </a:pPr>
            <a:r>
              <a:rPr lang="en-US" sz="1600" dirty="0">
                <a:solidFill>
                  <a:srgbClr val="1E1E1E"/>
                </a:solidFill>
              </a:rPr>
              <a:t>Define a biologically interpretable stress–repair proteomic imbalance profile associated with SIS emotion status, then test longitudinally whether it precedes later SIS emotion decline.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502920" y="6528816"/>
            <a:ext cx="7863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F6368"/>
                </a:solidFill>
              </a:rPr>
              <a:t>Preliminary, hypothesis-generating analysis for discussion</a:t>
            </a:r>
            <a:endParaRPr lang="en-US" sz="850" dirty="0"/>
          </a:p>
        </p:txBody>
      </p:sp>
      <p:sp>
        <p:nvSpPr>
          <p:cNvPr id="16" name="Text 13"/>
          <p:cNvSpPr/>
          <p:nvPr/>
        </p:nvSpPr>
        <p:spPr>
          <a:xfrm>
            <a:off x="10835640" y="6528816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F6368"/>
                </a:solidFill>
              </a:rPr>
              <a:t>Li Gong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4480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F6F9F"/>
                </a:solidFill>
              </a:rPr>
              <a:t>OBSERVATION 1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438912"/>
            <a:ext cx="10972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1E1E"/>
                </a:solidFill>
              </a:rPr>
              <a:t>Preliminary observation: imbalance is more informative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969264"/>
            <a:ext cx="11201400" cy="4023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3455B"/>
                </a:solidFill>
              </a:rPr>
              <a:t>The key signal is the mismatch: relatively greater stress-response activation with weaker repair/neurovascular remodeling.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02920" y="1444752"/>
            <a:ext cx="11201400" cy="0"/>
          </a:xfrm>
          <a:prstGeom prst="line">
            <a:avLst/>
          </a:prstGeom>
          <a:noFill/>
          <a:ln w="10160">
            <a:solidFill>
              <a:srgbClr val="C8CED3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6" name="Text 4"/>
          <p:cNvSpPr/>
          <p:nvPr/>
        </p:nvSpPr>
        <p:spPr>
          <a:xfrm>
            <a:off x="777240" y="1874520"/>
            <a:ext cx="3429000" cy="1463040"/>
          </a:xfrm>
          <a:prstGeom prst="rect">
            <a:avLst/>
          </a:prstGeom>
          <a:solidFill>
            <a:srgbClr val="FFF1E5"/>
          </a:solidFill>
          <a:ln w="8890">
            <a:solidFill>
              <a:srgbClr val="FFF1E5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l">
              <a:buNone/>
            </a:pPr>
            <a:r>
              <a:rPr lang="en-US" sz="1420" b="1" dirty="0">
                <a:solidFill>
                  <a:srgbClr val="1E1E1E"/>
                </a:solidFill>
              </a:rPr>
              <a:t>Stress-response activation</a:t>
            </a:r>
            <a:endParaRPr lang="en-US" sz="1420" dirty="0"/>
          </a:p>
          <a:p>
            <a:pPr marL="0" indent="0" algn="l">
              <a:buNone/>
            </a:pPr>
            <a:r>
              <a:rPr lang="en-US" sz="1420" b="1" dirty="0">
                <a:solidFill>
                  <a:srgbClr val="1E1E1E"/>
                </a:solidFill>
              </a:rPr>
              <a:t>monoamine/kynurenine · vesicle trafficking · cellular stress/proteostasis · growth-survival signaling</a:t>
            </a:r>
            <a:endParaRPr lang="en-US" sz="1420" dirty="0"/>
          </a:p>
        </p:txBody>
      </p:sp>
      <p:sp>
        <p:nvSpPr>
          <p:cNvPr id="7" name="Text 5"/>
          <p:cNvSpPr/>
          <p:nvPr/>
        </p:nvSpPr>
        <p:spPr>
          <a:xfrm>
            <a:off x="4462272" y="2395728"/>
            <a:ext cx="2926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5F6368"/>
                </a:solidFill>
              </a:rPr>
              <a:t>−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4892040" y="1874520"/>
            <a:ext cx="3429000" cy="1463040"/>
          </a:xfrm>
          <a:prstGeom prst="rect">
            <a:avLst/>
          </a:prstGeom>
          <a:solidFill>
            <a:srgbClr val="EAF3F8"/>
          </a:solidFill>
          <a:ln w="8890">
            <a:solidFill>
              <a:srgbClr val="EAF3F8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l">
              <a:buNone/>
            </a:pPr>
            <a:r>
              <a:rPr lang="en-US" sz="1420" b="1" dirty="0">
                <a:solidFill>
                  <a:srgbClr val="1E1E1E"/>
                </a:solidFill>
              </a:rPr>
              <a:t>Repair / neurovascular remodeling</a:t>
            </a:r>
            <a:endParaRPr lang="en-US" sz="1420" dirty="0"/>
          </a:p>
          <a:p>
            <a:pPr marL="0" indent="0" algn="l">
              <a:buNone/>
            </a:pPr>
            <a:r>
              <a:rPr lang="en-US" sz="1420" b="1" dirty="0">
                <a:solidFill>
                  <a:srgbClr val="1E1E1E"/>
                </a:solidFill>
              </a:rPr>
              <a:t>complement/coagulation · endothelial/BBB · synaptic plasticity · integrin/ECM remodeling</a:t>
            </a:r>
            <a:endParaRPr lang="en-US" sz="1420" dirty="0"/>
          </a:p>
        </p:txBody>
      </p:sp>
      <p:sp>
        <p:nvSpPr>
          <p:cNvPr id="9" name="Text 7"/>
          <p:cNvSpPr/>
          <p:nvPr/>
        </p:nvSpPr>
        <p:spPr>
          <a:xfrm>
            <a:off x="8586216" y="2395728"/>
            <a:ext cx="2926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5F6368"/>
                </a:solidFill>
              </a:rPr>
              <a:t>=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8988552" y="1783080"/>
            <a:ext cx="2423160" cy="1645920"/>
          </a:xfrm>
          <a:prstGeom prst="rect">
            <a:avLst/>
          </a:prstGeom>
          <a:solidFill>
            <a:srgbClr val="EEF5EF"/>
          </a:solidFill>
          <a:ln w="8890">
            <a:solidFill>
              <a:srgbClr val="EEF5EF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l">
              <a:buNone/>
            </a:pPr>
            <a:r>
              <a:rPr lang="en-US" sz="1420" b="1" dirty="0">
                <a:solidFill>
                  <a:srgbClr val="1E1E1E"/>
                </a:solidFill>
              </a:rPr>
              <a:t>Derived imbalance feature</a:t>
            </a:r>
            <a:endParaRPr lang="en-US" sz="1420" dirty="0"/>
          </a:p>
          <a:p>
            <a:pPr marL="0" indent="0" algn="l">
              <a:buNone/>
            </a:pPr>
            <a:r>
              <a:rPr lang="en-US" sz="1420" b="1" dirty="0">
                <a:solidFill>
                  <a:srgbClr val="1E1E1E"/>
                </a:solidFill>
              </a:rPr>
              <a:t>Stress − Repair</a:t>
            </a:r>
            <a:endParaRPr lang="en-US" sz="1420" dirty="0"/>
          </a:p>
          <a:p>
            <a:pPr marL="0" indent="0" algn="l">
              <a:buNone/>
            </a:pPr>
            <a:r>
              <a:rPr lang="en-US" sz="1420" b="1" dirty="0">
                <a:solidFill>
                  <a:srgbClr val="1E1E1E"/>
                </a:solidFill>
              </a:rPr>
              <a:t>positive values suggest stress predominance over repair/remodeling</a:t>
            </a:r>
            <a:endParaRPr lang="en-US" sz="1420" dirty="0"/>
          </a:p>
        </p:txBody>
      </p:sp>
      <p:sp>
        <p:nvSpPr>
          <p:cNvPr id="11" name="Text 9"/>
          <p:cNvSpPr/>
          <p:nvPr/>
        </p:nvSpPr>
        <p:spPr>
          <a:xfrm>
            <a:off x="777240" y="3913632"/>
            <a:ext cx="1828800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F6F9F"/>
                </a:solidFill>
              </a:rPr>
              <a:t>Interpretation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777240" y="4251960"/>
            <a:ext cx="5120640" cy="107899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 fontScale="92500"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1E1E1E"/>
                </a:solidFill>
              </a:rPr>
              <a:t>In the cross-sectional data, lower-SIS3 patients appeared to show a broader stress–repair imbalance. This feature may provide a more interpretable biological readout than discussing many individual modules separately.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6400800" y="3913632"/>
            <a:ext cx="2560320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B07D2B"/>
                </a:solidFill>
              </a:rPr>
              <a:t>Cautious wording for meeting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6400800" y="4251960"/>
            <a:ext cx="5029200" cy="1078992"/>
          </a:xfrm>
          <a:prstGeom prst="rect">
            <a:avLst/>
          </a:prstGeom>
          <a:solidFill>
            <a:srgbClr val="FFFFFF"/>
          </a:solidFill>
          <a:ln w="8890">
            <a:solidFill>
              <a:srgbClr val="C8CED3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E1E1E"/>
                </a:solidFill>
              </a:rPr>
              <a:t>“This does not prove prediction. It identifies a candidate feature and time window to test in longitudinal data.”</a:t>
            </a:r>
            <a:endParaRPr lang="en-US" sz="1700" dirty="0"/>
          </a:p>
        </p:txBody>
      </p:sp>
      <p:sp>
        <p:nvSpPr>
          <p:cNvPr id="16" name="Text 13"/>
          <p:cNvSpPr/>
          <p:nvPr/>
        </p:nvSpPr>
        <p:spPr>
          <a:xfrm>
            <a:off x="502920" y="6528816"/>
            <a:ext cx="7863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F6368"/>
                </a:solidFill>
              </a:rPr>
              <a:t>Preliminary, hypothesis-generating analysis for discussion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10835640" y="6528816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F6368"/>
                </a:solidFill>
              </a:rPr>
              <a:t>Li Gong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4480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F6F9F"/>
                </a:solidFill>
              </a:rPr>
              <a:t>OBSERVATION 2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438912"/>
            <a:ext cx="10972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1E1E"/>
                </a:solidFill>
              </a:rPr>
              <a:t>Preliminary observation: profiles are time-structured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969264"/>
            <a:ext cx="11201400" cy="4023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3455B"/>
                </a:solidFill>
              </a:rPr>
              <a:t>The biological meaning of lower SIS3 may differ by post-stroke stage, which makes longitudinal validation essential.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02920" y="1444752"/>
            <a:ext cx="11201400" cy="0"/>
          </a:xfrm>
          <a:prstGeom prst="line">
            <a:avLst/>
          </a:prstGeom>
          <a:noFill/>
          <a:ln w="10160">
            <a:solidFill>
              <a:srgbClr val="C8CED3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6" name="Text 4"/>
          <p:cNvSpPr/>
          <p:nvPr/>
        </p:nvSpPr>
        <p:spPr>
          <a:xfrm>
            <a:off x="960120" y="2148840"/>
            <a:ext cx="2971800" cy="1261872"/>
          </a:xfrm>
          <a:prstGeom prst="rect">
            <a:avLst/>
          </a:prstGeom>
          <a:solidFill>
            <a:srgbClr val="EAF3F8"/>
          </a:solidFill>
          <a:ln w="8890">
            <a:solidFill>
              <a:srgbClr val="EAF3F8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520" b="1" dirty="0">
                <a:solidFill>
                  <a:srgbClr val="1E1E1E"/>
                </a:solidFill>
              </a:rPr>
              <a:t>0–1 year</a:t>
            </a:r>
            <a:endParaRPr lang="en-US" sz="1520" dirty="0"/>
          </a:p>
          <a:p>
            <a:pPr marL="0" indent="0" algn="ctr">
              <a:buNone/>
            </a:pPr>
            <a:r>
              <a:rPr lang="en-US" sz="1520" b="1" dirty="0">
                <a:solidFill>
                  <a:srgbClr val="1E1E1E"/>
                </a:solidFill>
              </a:rPr>
              <a:t>early post-stroke</a:t>
            </a:r>
            <a:endParaRPr lang="en-US" sz="1520" dirty="0"/>
          </a:p>
          <a:p>
            <a:pPr marL="0" indent="0" algn="ctr">
              <a:buNone/>
            </a:pPr>
            <a:r>
              <a:rPr lang="en-US" sz="1520" b="1" dirty="0">
                <a:solidFill>
                  <a:srgbClr val="1E1E1E"/>
                </a:solidFill>
              </a:rPr>
              <a:t>clinical status + baseline biology</a:t>
            </a:r>
            <a:endParaRPr lang="en-US" sz="1520" dirty="0"/>
          </a:p>
        </p:txBody>
      </p:sp>
      <p:sp>
        <p:nvSpPr>
          <p:cNvPr id="7" name="Shape 5"/>
          <p:cNvSpPr/>
          <p:nvPr/>
        </p:nvSpPr>
        <p:spPr>
          <a:xfrm>
            <a:off x="4005072" y="2779776"/>
            <a:ext cx="365760" cy="0"/>
          </a:xfrm>
          <a:prstGeom prst="line">
            <a:avLst/>
          </a:prstGeom>
          <a:noFill/>
          <a:ln w="19050">
            <a:solidFill>
              <a:srgbClr val="C8CED3"/>
            </a:solidFill>
            <a:prstDash val="solid"/>
            <a:tailEnd type="triangle"/>
          </a:ln>
        </p:spPr>
        <p:txBody>
          <a:bodyPr/>
          <a:lstStyle/>
          <a:p>
            <a:endParaRPr lang="en-CA"/>
          </a:p>
        </p:txBody>
      </p:sp>
      <p:sp>
        <p:nvSpPr>
          <p:cNvPr id="8" name="Text 6"/>
          <p:cNvSpPr/>
          <p:nvPr/>
        </p:nvSpPr>
        <p:spPr>
          <a:xfrm>
            <a:off x="4434840" y="2148840"/>
            <a:ext cx="2971800" cy="1261872"/>
          </a:xfrm>
          <a:prstGeom prst="rect">
            <a:avLst/>
          </a:prstGeom>
          <a:solidFill>
            <a:srgbClr val="FFF1E5"/>
          </a:solidFill>
          <a:ln w="8890">
            <a:solidFill>
              <a:srgbClr val="FFF1E5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520" b="1" dirty="0">
                <a:solidFill>
                  <a:srgbClr val="1E1E1E"/>
                </a:solidFill>
              </a:rPr>
              <a:t>1–3 years</a:t>
            </a:r>
            <a:endParaRPr lang="en-US" sz="1520" dirty="0"/>
          </a:p>
          <a:p>
            <a:pPr marL="0" indent="0" algn="ctr">
              <a:buNone/>
            </a:pPr>
            <a:r>
              <a:rPr lang="en-US" sz="1520" b="1" dirty="0">
                <a:solidFill>
                  <a:srgbClr val="1E1E1E"/>
                </a:solidFill>
              </a:rPr>
              <a:t>possible transition window</a:t>
            </a:r>
            <a:endParaRPr lang="en-US" sz="1520" dirty="0"/>
          </a:p>
          <a:p>
            <a:pPr marL="0" indent="0" algn="ctr">
              <a:buNone/>
            </a:pPr>
            <a:r>
              <a:rPr lang="en-US" sz="1520" b="1" dirty="0">
                <a:solidFill>
                  <a:srgbClr val="1E1E1E"/>
                </a:solidFill>
              </a:rPr>
              <a:t>stress-related activity may become more prominent</a:t>
            </a:r>
            <a:endParaRPr lang="en-US" sz="1520" dirty="0"/>
          </a:p>
        </p:txBody>
      </p:sp>
      <p:sp>
        <p:nvSpPr>
          <p:cNvPr id="9" name="Shape 7"/>
          <p:cNvSpPr/>
          <p:nvPr/>
        </p:nvSpPr>
        <p:spPr>
          <a:xfrm>
            <a:off x="7479792" y="2779776"/>
            <a:ext cx="365760" cy="0"/>
          </a:xfrm>
          <a:prstGeom prst="line">
            <a:avLst/>
          </a:prstGeom>
          <a:noFill/>
          <a:ln w="19050">
            <a:solidFill>
              <a:srgbClr val="C8CED3"/>
            </a:solidFill>
            <a:prstDash val="solid"/>
            <a:tailEnd type="triangle"/>
          </a:ln>
        </p:spPr>
        <p:txBody>
          <a:bodyPr/>
          <a:lstStyle/>
          <a:p>
            <a:endParaRPr lang="en-CA"/>
          </a:p>
        </p:txBody>
      </p:sp>
      <p:sp>
        <p:nvSpPr>
          <p:cNvPr id="10" name="Text 8"/>
          <p:cNvSpPr/>
          <p:nvPr/>
        </p:nvSpPr>
        <p:spPr>
          <a:xfrm>
            <a:off x="7909560" y="2148840"/>
            <a:ext cx="2971800" cy="1261872"/>
          </a:xfrm>
          <a:prstGeom prst="rect">
            <a:avLst/>
          </a:prstGeom>
          <a:solidFill>
            <a:srgbClr val="EAF3F8"/>
          </a:solidFill>
          <a:ln w="8890">
            <a:solidFill>
              <a:srgbClr val="EAF3F8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520" b="1" dirty="0">
                <a:solidFill>
                  <a:srgbClr val="1E1E1E"/>
                </a:solidFill>
              </a:rPr>
              <a:t>&gt;3 years</a:t>
            </a:r>
            <a:endParaRPr lang="en-US" sz="1520" dirty="0"/>
          </a:p>
          <a:p>
            <a:pPr marL="0" indent="0" algn="ctr">
              <a:buNone/>
            </a:pPr>
            <a:r>
              <a:rPr lang="en-US" sz="1520" b="1" dirty="0">
                <a:solidFill>
                  <a:srgbClr val="1E1E1E"/>
                </a:solidFill>
              </a:rPr>
              <a:t>late stage</a:t>
            </a:r>
            <a:endParaRPr lang="en-US" sz="1520" dirty="0"/>
          </a:p>
          <a:p>
            <a:pPr marL="0" indent="0" algn="ctr">
              <a:buNone/>
            </a:pPr>
            <a:r>
              <a:rPr lang="en-US" sz="1520" b="1" dirty="0">
                <a:solidFill>
                  <a:srgbClr val="1E1E1E"/>
                </a:solidFill>
              </a:rPr>
              <a:t>more heterogeneous lower-SIS3 phenotype</a:t>
            </a:r>
            <a:endParaRPr lang="en-US" sz="1520" dirty="0"/>
          </a:p>
        </p:txBody>
      </p:sp>
      <p:sp>
        <p:nvSpPr>
          <p:cNvPr id="11" name="Text 9"/>
          <p:cNvSpPr/>
          <p:nvPr/>
        </p:nvSpPr>
        <p:spPr>
          <a:xfrm>
            <a:off x="868680" y="3886200"/>
            <a:ext cx="4023360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F6F9F"/>
                </a:solidFill>
              </a:rPr>
              <a:t>What the cross-sectional result suggests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868680" y="4233672"/>
            <a:ext cx="5303520" cy="10058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1E1E1E"/>
                </a:solidFill>
              </a:rPr>
              <a:t>Lower-SIS3 patients did not appear to show one fixed proteomic signature across all time windows. Instead, the imbalance profile showed time-since-stroke dependence, particularly among lower-SIS3 patients.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6510528" y="3886200"/>
            <a:ext cx="3108960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B07D2B"/>
                </a:solidFill>
              </a:rPr>
              <a:t>What it cannot show yet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6510528" y="4233672"/>
            <a:ext cx="4892040" cy="10058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1E1E1E"/>
                </a:solidFill>
              </a:rPr>
              <a:t>Cross-sectional timing cannot prove within-patient biological progression. The key next test is whether early imbalance precedes later SIS emotion decline within the same patients.</a:t>
            </a:r>
            <a:endParaRPr lang="en-US" sz="1700" dirty="0"/>
          </a:p>
        </p:txBody>
      </p:sp>
      <p:sp>
        <p:nvSpPr>
          <p:cNvPr id="16" name="Text 13"/>
          <p:cNvSpPr/>
          <p:nvPr/>
        </p:nvSpPr>
        <p:spPr>
          <a:xfrm>
            <a:off x="502920" y="6528816"/>
            <a:ext cx="7863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F6368"/>
                </a:solidFill>
              </a:rPr>
              <a:t>Preliminary, hypothesis-generating analysis for discussion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10835640" y="6528816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F6368"/>
                </a:solidFill>
              </a:rPr>
              <a:t>Li Gong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4480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F6F9F"/>
                </a:solidFill>
              </a:rPr>
              <a:t>PROJECT FRAME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438912"/>
            <a:ext cx="10972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1E1E"/>
                </a:solidFill>
              </a:rPr>
              <a:t>Central hypothesis and specific aims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969264"/>
            <a:ext cx="11201400" cy="4023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3455B"/>
                </a:solidFill>
              </a:rPr>
              <a:t>The longitudinal version tests whether stress–repair imbalance is an early candidate indicator of emotional vulnerability.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02920" y="1444752"/>
            <a:ext cx="11201400" cy="0"/>
          </a:xfrm>
          <a:prstGeom prst="line">
            <a:avLst/>
          </a:prstGeom>
          <a:noFill/>
          <a:ln w="10160">
            <a:solidFill>
              <a:srgbClr val="C8CED3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6" name="Text 4"/>
          <p:cNvSpPr/>
          <p:nvPr/>
        </p:nvSpPr>
        <p:spPr>
          <a:xfrm>
            <a:off x="713232" y="1783080"/>
            <a:ext cx="10835640" cy="960120"/>
          </a:xfrm>
          <a:prstGeom prst="rect">
            <a:avLst/>
          </a:prstGeom>
          <a:solidFill>
            <a:srgbClr val="EAF3F8"/>
          </a:solidFill>
          <a:ln w="8890">
            <a:solidFill>
              <a:srgbClr val="EAF3F8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l">
              <a:buNone/>
            </a:pPr>
            <a:r>
              <a:rPr lang="en-US" sz="1700" dirty="0">
                <a:solidFill>
                  <a:srgbClr val="1E1E1E"/>
                </a:solidFill>
              </a:rPr>
              <a:t>Central hypothesis</a:t>
            </a:r>
            <a:endParaRPr lang="en-US" sz="1700" dirty="0"/>
          </a:p>
          <a:p>
            <a:pPr marL="0" indent="0" algn="l">
              <a:buNone/>
            </a:pPr>
            <a:r>
              <a:rPr lang="en-US" sz="1700" dirty="0">
                <a:solidFill>
                  <a:srgbClr val="1E1E1E"/>
                </a:solidFill>
              </a:rPr>
              <a:t>Post-stroke SIS emotion status and trajectory are associated with a time-dependent stress–repair imbalance, characterized by relatively greater stress-response activation and weaker repair/neurovascular remodeling signals.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731520" y="3291840"/>
            <a:ext cx="3246120" cy="1143000"/>
          </a:xfrm>
          <a:prstGeom prst="rect">
            <a:avLst/>
          </a:prstGeom>
          <a:solidFill>
            <a:srgbClr val="FFFFFF"/>
          </a:solidFill>
          <a:ln w="8890">
            <a:solidFill>
              <a:srgbClr val="C8CED3"/>
            </a:solidFill>
          </a:ln>
        </p:spPr>
        <p:txBody>
          <a:bodyPr wrap="square" lIns="1524" tIns="1524" rIns="1524" bIns="1524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1E1E1E"/>
                </a:solidFill>
              </a:rPr>
              <a:t>Aim 1</a:t>
            </a:r>
            <a:endParaRPr lang="en-US" sz="1650" dirty="0"/>
          </a:p>
          <a:p>
            <a:pPr marL="0" indent="0" algn="l">
              <a:buNone/>
            </a:pPr>
            <a:r>
              <a:rPr lang="en-US" sz="1650" b="1" dirty="0">
                <a:solidFill>
                  <a:srgbClr val="1E1E1E"/>
                </a:solidFill>
              </a:rPr>
              <a:t>Define stress–repair plasma proteomic imbalance associated with SIS emotion status after stroke.</a:t>
            </a:r>
            <a:endParaRPr lang="en-US" sz="1650" dirty="0"/>
          </a:p>
        </p:txBody>
      </p:sp>
      <p:sp>
        <p:nvSpPr>
          <p:cNvPr id="8" name="Shape 6"/>
          <p:cNvSpPr/>
          <p:nvPr/>
        </p:nvSpPr>
        <p:spPr>
          <a:xfrm>
            <a:off x="4169664" y="3867912"/>
            <a:ext cx="658368" cy="0"/>
          </a:xfrm>
          <a:prstGeom prst="line">
            <a:avLst/>
          </a:prstGeom>
          <a:noFill/>
          <a:ln w="15240">
            <a:solidFill>
              <a:srgbClr val="C8CED3"/>
            </a:solidFill>
            <a:prstDash val="solid"/>
            <a:tailEnd type="triangle"/>
          </a:ln>
        </p:spPr>
        <p:txBody>
          <a:bodyPr/>
          <a:lstStyle/>
          <a:p>
            <a:endParaRPr lang="en-CA"/>
          </a:p>
        </p:txBody>
      </p:sp>
      <p:sp>
        <p:nvSpPr>
          <p:cNvPr id="9" name="Text 7"/>
          <p:cNvSpPr/>
          <p:nvPr/>
        </p:nvSpPr>
        <p:spPr>
          <a:xfrm>
            <a:off x="4617720" y="3291840"/>
            <a:ext cx="3246120" cy="1143000"/>
          </a:xfrm>
          <a:prstGeom prst="rect">
            <a:avLst/>
          </a:prstGeom>
          <a:solidFill>
            <a:srgbClr val="FFFFFF"/>
          </a:solidFill>
          <a:ln w="8890">
            <a:solidFill>
              <a:srgbClr val="C8CED3"/>
            </a:solidFill>
          </a:ln>
        </p:spPr>
        <p:txBody>
          <a:bodyPr wrap="square" lIns="1524" tIns="1524" rIns="1524" bIns="1524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1E1E1E"/>
                </a:solidFill>
              </a:rPr>
              <a:t>Aim 2</a:t>
            </a:r>
            <a:endParaRPr lang="en-US" sz="1650" dirty="0"/>
          </a:p>
          <a:p>
            <a:pPr marL="0" indent="0" algn="l">
              <a:buNone/>
            </a:pPr>
            <a:r>
              <a:rPr lang="en-US" sz="1650" b="1" dirty="0">
                <a:solidFill>
                  <a:srgbClr val="1E1E1E"/>
                </a:solidFill>
              </a:rPr>
              <a:t>Test whether cross-sectional time-structured patterns reflect within-patient SIS emotion trajectories.</a:t>
            </a:r>
            <a:endParaRPr lang="en-US" sz="1650" dirty="0"/>
          </a:p>
        </p:txBody>
      </p:sp>
      <p:sp>
        <p:nvSpPr>
          <p:cNvPr id="10" name="Shape 8"/>
          <p:cNvSpPr/>
          <p:nvPr/>
        </p:nvSpPr>
        <p:spPr>
          <a:xfrm>
            <a:off x="8074152" y="3867912"/>
            <a:ext cx="658368" cy="0"/>
          </a:xfrm>
          <a:prstGeom prst="line">
            <a:avLst/>
          </a:prstGeom>
          <a:noFill/>
          <a:ln w="15240">
            <a:solidFill>
              <a:srgbClr val="C8CED3"/>
            </a:solidFill>
            <a:prstDash val="solid"/>
            <a:tailEnd type="triangle"/>
          </a:ln>
        </p:spPr>
        <p:txBody>
          <a:bodyPr/>
          <a:lstStyle/>
          <a:p>
            <a:endParaRPr lang="en-CA"/>
          </a:p>
        </p:txBody>
      </p:sp>
      <p:sp>
        <p:nvSpPr>
          <p:cNvPr id="11" name="Text 9"/>
          <p:cNvSpPr/>
          <p:nvPr/>
        </p:nvSpPr>
        <p:spPr>
          <a:xfrm>
            <a:off x="8485632" y="3291840"/>
            <a:ext cx="3063240" cy="1143000"/>
          </a:xfrm>
          <a:prstGeom prst="rect">
            <a:avLst/>
          </a:prstGeom>
          <a:solidFill>
            <a:srgbClr val="FFFFFF"/>
          </a:solidFill>
          <a:ln w="8890">
            <a:solidFill>
              <a:srgbClr val="C8CED3"/>
            </a:solidFill>
          </a:ln>
        </p:spPr>
        <p:txBody>
          <a:bodyPr wrap="square" lIns="1524" tIns="1524" rIns="1524" bIns="1524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580" b="1" dirty="0">
                <a:solidFill>
                  <a:srgbClr val="1E1E1E"/>
                </a:solidFill>
              </a:rPr>
              <a:t>Future extension</a:t>
            </a:r>
            <a:endParaRPr lang="en-US" sz="1580" dirty="0"/>
          </a:p>
          <a:p>
            <a:pPr marL="0" indent="0" algn="l">
              <a:buNone/>
            </a:pPr>
            <a:r>
              <a:rPr lang="en-US" sz="1580" b="1" dirty="0">
                <a:solidFill>
                  <a:srgbClr val="1E1E1E"/>
                </a:solidFill>
              </a:rPr>
              <a:t>Integrate imaging markers to define the sequence among protein changes, brain changes, and later SIS emotion outcomes.</a:t>
            </a:r>
            <a:endParaRPr lang="en-US" sz="1580" dirty="0"/>
          </a:p>
        </p:txBody>
      </p:sp>
      <p:sp>
        <p:nvSpPr>
          <p:cNvPr id="12" name="Text 10"/>
          <p:cNvSpPr/>
          <p:nvPr/>
        </p:nvSpPr>
        <p:spPr>
          <a:xfrm>
            <a:off x="1051560" y="5166360"/>
            <a:ext cx="4297680" cy="658368"/>
          </a:xfrm>
          <a:prstGeom prst="rect">
            <a:avLst/>
          </a:prstGeom>
          <a:solidFill>
            <a:srgbClr val="F5F5F3"/>
          </a:solidFill>
          <a:ln w="8890">
            <a:solidFill>
              <a:srgbClr val="F5F5F3"/>
            </a:solidFill>
          </a:ln>
        </p:spPr>
        <p:txBody>
          <a:bodyPr wrap="square" lIns="1524" tIns="1524" rIns="1524" bIns="1524" rtlCol="0" anchor="ctr">
            <a:normAutofit fontScale="85000" lnSpcReduction="10000"/>
          </a:bodyPr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1E1E1E"/>
                </a:solidFill>
              </a:rPr>
              <a:t>Expected output</a:t>
            </a:r>
            <a:endParaRPr lang="en-US" sz="1550" dirty="0"/>
          </a:p>
          <a:p>
            <a:pPr marL="0" indent="0" algn="ctr">
              <a:buNone/>
            </a:pPr>
            <a:r>
              <a:rPr lang="en-US" sz="1550" b="1" dirty="0">
                <a:solidFill>
                  <a:srgbClr val="1E1E1E"/>
                </a:solidFill>
              </a:rPr>
              <a:t>A biologically interpretable framework, not a final predictive biomarker claim from cross-sectional data.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6812280" y="5166360"/>
            <a:ext cx="4069080" cy="658368"/>
          </a:xfrm>
          <a:prstGeom prst="rect">
            <a:avLst/>
          </a:prstGeom>
          <a:solidFill>
            <a:srgbClr val="F5F5F3"/>
          </a:solidFill>
          <a:ln w="8890">
            <a:solidFill>
              <a:srgbClr val="F5F5F3"/>
            </a:solidFill>
          </a:ln>
        </p:spPr>
        <p:txBody>
          <a:bodyPr wrap="square" lIns="1524" tIns="1524" rIns="1524" bIns="1524" rtlCol="0" anchor="ctr">
            <a:normAutofit fontScale="85000" lnSpcReduction="10000"/>
          </a:bodyPr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1E1E1E"/>
                </a:solidFill>
              </a:rPr>
              <a:t>Decision needed</a:t>
            </a:r>
            <a:endParaRPr lang="en-US" sz="1550" dirty="0"/>
          </a:p>
          <a:p>
            <a:pPr marL="0" indent="0" algn="ctr">
              <a:buNone/>
            </a:pPr>
            <a:r>
              <a:rPr lang="en-US" sz="1550" b="1" dirty="0">
                <a:solidFill>
                  <a:srgbClr val="1E1E1E"/>
                </a:solidFill>
              </a:rPr>
              <a:t>Should the first project focus on SIS3 trajectory, imaging integration, or validation in another cohort?</a:t>
            </a:r>
            <a:endParaRPr lang="en-US" sz="1550" dirty="0"/>
          </a:p>
        </p:txBody>
      </p:sp>
      <p:sp>
        <p:nvSpPr>
          <p:cNvPr id="15" name="Text 12"/>
          <p:cNvSpPr/>
          <p:nvPr/>
        </p:nvSpPr>
        <p:spPr>
          <a:xfrm>
            <a:off x="502920" y="6528816"/>
            <a:ext cx="7863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F6368"/>
                </a:solidFill>
              </a:rPr>
              <a:t>Preliminary, hypothesis-generating analysis for discussion</a:t>
            </a:r>
            <a:endParaRPr lang="en-US" sz="850" dirty="0"/>
          </a:p>
        </p:txBody>
      </p:sp>
      <p:sp>
        <p:nvSpPr>
          <p:cNvPr id="16" name="Text 13"/>
          <p:cNvSpPr/>
          <p:nvPr/>
        </p:nvSpPr>
        <p:spPr>
          <a:xfrm>
            <a:off x="10835640" y="6528816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F6368"/>
                </a:solidFill>
              </a:rPr>
              <a:t>Li Gong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4480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F6F9F"/>
                </a:solidFill>
              </a:rPr>
              <a:t>NEXT ANALYSIS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438912"/>
            <a:ext cx="10972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1E1E"/>
                </a:solidFill>
              </a:rPr>
              <a:t>Longitudinal validation: test temporal ordering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969264"/>
            <a:ext cx="11201400" cy="4023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3455B"/>
                </a:solidFill>
              </a:rPr>
              <a:t>The decisive test is temporal ordering: proteomic imbalance first, SIS emotion decline later.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02920" y="1444752"/>
            <a:ext cx="11201400" cy="0"/>
          </a:xfrm>
          <a:prstGeom prst="line">
            <a:avLst/>
          </a:prstGeom>
          <a:noFill/>
          <a:ln w="10160">
            <a:solidFill>
              <a:srgbClr val="C8CED3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6" name="Text 4"/>
          <p:cNvSpPr/>
          <p:nvPr/>
        </p:nvSpPr>
        <p:spPr>
          <a:xfrm>
            <a:off x="868680" y="1737360"/>
            <a:ext cx="3840480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F6F9F"/>
                </a:solidFill>
              </a:rPr>
              <a:t>Patient initially emotionally preserved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868680" y="2148840"/>
            <a:ext cx="2377440" cy="1024128"/>
          </a:xfrm>
          <a:prstGeom prst="rect">
            <a:avLst/>
          </a:prstGeom>
          <a:solidFill>
            <a:srgbClr val="EAF3F8"/>
          </a:solidFill>
          <a:ln w="8890">
            <a:solidFill>
              <a:srgbClr val="EAF3F8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1E1E1E"/>
                </a:solidFill>
              </a:rPr>
              <a:t>Time 1</a:t>
            </a:r>
            <a:endParaRPr lang="en-US" sz="1550" dirty="0"/>
          </a:p>
          <a:p>
            <a:pPr marL="0" indent="0" algn="ctr">
              <a:buNone/>
            </a:pPr>
            <a:r>
              <a:rPr lang="en-US" sz="1550" b="1" dirty="0">
                <a:solidFill>
                  <a:srgbClr val="1E1E1E"/>
                </a:solidFill>
              </a:rPr>
              <a:t>SIS3 &gt; 63</a:t>
            </a:r>
            <a:endParaRPr lang="en-US" sz="1550" dirty="0"/>
          </a:p>
          <a:p>
            <a:pPr marL="0" indent="0" algn="ctr">
              <a:buNone/>
            </a:pPr>
            <a:r>
              <a:rPr lang="en-US" sz="1550" b="1" dirty="0">
                <a:solidFill>
                  <a:srgbClr val="1E1E1E"/>
                </a:solidFill>
              </a:rPr>
              <a:t>Proteomic imbalance measured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3447288" y="2670048"/>
            <a:ext cx="1417320" cy="0"/>
          </a:xfrm>
          <a:prstGeom prst="line">
            <a:avLst/>
          </a:prstGeom>
          <a:noFill/>
          <a:ln w="17780">
            <a:solidFill>
              <a:srgbClr val="C8CED3"/>
            </a:solidFill>
            <a:prstDash val="solid"/>
            <a:tailEnd type="triangle"/>
          </a:ln>
        </p:spPr>
        <p:txBody>
          <a:bodyPr/>
          <a:lstStyle/>
          <a:p>
            <a:endParaRPr lang="en-CA"/>
          </a:p>
        </p:txBody>
      </p:sp>
      <p:sp>
        <p:nvSpPr>
          <p:cNvPr id="9" name="Text 7"/>
          <p:cNvSpPr/>
          <p:nvPr/>
        </p:nvSpPr>
        <p:spPr>
          <a:xfrm>
            <a:off x="4617720" y="2148840"/>
            <a:ext cx="2377440" cy="1024128"/>
          </a:xfrm>
          <a:prstGeom prst="rect">
            <a:avLst/>
          </a:prstGeom>
          <a:solidFill>
            <a:srgbClr val="F5F5F3"/>
          </a:solidFill>
          <a:ln w="8890">
            <a:solidFill>
              <a:srgbClr val="F5F5F3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1E1E1E"/>
                </a:solidFill>
              </a:rPr>
              <a:t>Lag window</a:t>
            </a:r>
            <a:endParaRPr lang="en-US" sz="1550" dirty="0"/>
          </a:p>
          <a:p>
            <a:pPr marL="0" indent="0" algn="ctr">
              <a:buNone/>
            </a:pPr>
            <a:r>
              <a:rPr lang="en-US" sz="1550" b="1" dirty="0">
                <a:solidFill>
                  <a:srgbClr val="1E1E1E"/>
                </a:solidFill>
              </a:rPr>
              <a:t>protein trajectory</a:t>
            </a:r>
            <a:endParaRPr lang="en-US" sz="1550" dirty="0"/>
          </a:p>
          <a:p>
            <a:pPr marL="0" indent="0" algn="ctr">
              <a:buNone/>
            </a:pPr>
            <a:r>
              <a:rPr lang="en-US" sz="1550" b="1" dirty="0">
                <a:solidFill>
                  <a:srgbClr val="1E1E1E"/>
                </a:solidFill>
              </a:rPr>
              <a:t>± imaging change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7187184" y="2670048"/>
            <a:ext cx="1417320" cy="0"/>
          </a:xfrm>
          <a:prstGeom prst="line">
            <a:avLst/>
          </a:prstGeom>
          <a:noFill/>
          <a:ln w="17780">
            <a:solidFill>
              <a:srgbClr val="C8CED3"/>
            </a:solidFill>
            <a:prstDash val="solid"/>
            <a:tailEnd type="triangle"/>
          </a:ln>
        </p:spPr>
        <p:txBody>
          <a:bodyPr/>
          <a:lstStyle/>
          <a:p>
            <a:endParaRPr lang="en-CA"/>
          </a:p>
        </p:txBody>
      </p:sp>
      <p:sp>
        <p:nvSpPr>
          <p:cNvPr id="11" name="Text 9"/>
          <p:cNvSpPr/>
          <p:nvPr/>
        </p:nvSpPr>
        <p:spPr>
          <a:xfrm>
            <a:off x="8366760" y="2148840"/>
            <a:ext cx="2377440" cy="1024128"/>
          </a:xfrm>
          <a:prstGeom prst="rect">
            <a:avLst/>
          </a:prstGeom>
          <a:solidFill>
            <a:srgbClr val="FFF1E5"/>
          </a:solidFill>
          <a:ln w="8890">
            <a:solidFill>
              <a:srgbClr val="FFF1E5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1E1E1E"/>
                </a:solidFill>
              </a:rPr>
              <a:t>Time 2</a:t>
            </a:r>
            <a:endParaRPr lang="en-US" sz="1550" dirty="0"/>
          </a:p>
          <a:p>
            <a:pPr marL="0" indent="0" algn="ctr">
              <a:buNone/>
            </a:pPr>
            <a:r>
              <a:rPr lang="en-US" sz="1550" b="1" dirty="0">
                <a:solidFill>
                  <a:srgbClr val="1E1E1E"/>
                </a:solidFill>
              </a:rPr>
              <a:t>SIS3 stable vs decline</a:t>
            </a:r>
            <a:endParaRPr lang="en-US" sz="1550" dirty="0"/>
          </a:p>
          <a:p>
            <a:pPr marL="0" indent="0" algn="ctr">
              <a:buNone/>
            </a:pPr>
            <a:r>
              <a:rPr lang="en-US" sz="1550" b="1" dirty="0">
                <a:solidFill>
                  <a:srgbClr val="1E1E1E"/>
                </a:solidFill>
              </a:rPr>
              <a:t>trajectory outcome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868680" y="3995928"/>
            <a:ext cx="2926080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F6F9F"/>
                </a:solidFill>
              </a:rPr>
              <a:t>Analysis questions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868680" y="4343400"/>
            <a:ext cx="6537960" cy="11430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1E1E1E"/>
                </a:solidFill>
              </a:rPr>
              <a:t>• Does baseline imbalance predict later SIS3 decline among patients initially above threshold?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1E1E1E"/>
                </a:solidFill>
              </a:rPr>
              <a:t>• Does change in imbalance track or precede SIS3 trajectory?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1E1E1E"/>
                </a:solidFill>
              </a:rPr>
              <a:t>• Do imaging markers help place protein signals in a protein → brain → clinical sequence?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8046720" y="4251960"/>
            <a:ext cx="2926080" cy="1143000"/>
          </a:xfrm>
          <a:prstGeom prst="rect">
            <a:avLst/>
          </a:prstGeom>
          <a:solidFill>
            <a:srgbClr val="EEF5EF"/>
          </a:solidFill>
          <a:ln w="8890">
            <a:solidFill>
              <a:srgbClr val="EEF5EF"/>
            </a:solidFill>
          </a:ln>
        </p:spPr>
        <p:txBody>
          <a:bodyPr wrap="square" lIns="1524" tIns="1524" rIns="1524" bIns="1524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1E1E"/>
                </a:solidFill>
              </a:rPr>
              <a:t>Translational value if supported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1E1E1E"/>
                </a:solidFill>
              </a:rPr>
              <a:t>A candidate early indicator for closer monitoring and future risk-informed intervention design.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502920" y="6528816"/>
            <a:ext cx="7863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F6368"/>
                </a:solidFill>
              </a:rPr>
              <a:t>Preliminary, hypothesis-generating analysis for discussion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10835640" y="6528816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F6368"/>
                </a:solidFill>
              </a:rPr>
              <a:t>Li Gong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4480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F6F9F"/>
                </a:solidFill>
              </a:rPr>
              <a:t>PROPOSAL VALUE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438912"/>
            <a:ext cx="10972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1E1E"/>
                </a:solidFill>
              </a:rPr>
              <a:t>Innovation and expected impact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969264"/>
            <a:ext cx="11201400" cy="4023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3455B"/>
                </a:solidFill>
              </a:rPr>
              <a:t>The innovation is the derived imbalance feature: a simpler, biologically interpretable summary of coordinated stress and repair biology.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02920" y="1444752"/>
            <a:ext cx="11201400" cy="0"/>
          </a:xfrm>
          <a:prstGeom prst="line">
            <a:avLst/>
          </a:prstGeom>
          <a:noFill/>
          <a:ln w="10160">
            <a:solidFill>
              <a:srgbClr val="C8CED3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6" name="Text 4"/>
          <p:cNvSpPr/>
          <p:nvPr/>
        </p:nvSpPr>
        <p:spPr>
          <a:xfrm>
            <a:off x="777240" y="1828800"/>
            <a:ext cx="5074920" cy="1371600"/>
          </a:xfrm>
          <a:prstGeom prst="rect">
            <a:avLst/>
          </a:prstGeom>
          <a:solidFill>
            <a:srgbClr val="EAF3F8"/>
          </a:solidFill>
          <a:ln w="8890">
            <a:solidFill>
              <a:srgbClr val="EAF3F8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1E1E1E"/>
                </a:solidFill>
              </a:rPr>
              <a:t>Innovation</a:t>
            </a:r>
            <a:endParaRPr lang="en-US" sz="1600" dirty="0"/>
          </a:p>
          <a:p>
            <a:pPr marL="0" indent="0" algn="l">
              <a:buNone/>
            </a:pPr>
            <a:r>
              <a:rPr lang="en-US" sz="1600" dirty="0">
                <a:solidFill>
                  <a:srgbClr val="1E1E1E"/>
                </a:solidFill>
              </a:rPr>
              <a:t>Shifts from isolated proteins or individual modules to a derived stress–repair imbalance profile that captures the relative predominance of stress activation over repair/neurovascular remodeling.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309360" y="1828800"/>
            <a:ext cx="5074920" cy="1371600"/>
          </a:xfrm>
          <a:prstGeom prst="rect">
            <a:avLst/>
          </a:prstGeom>
          <a:solidFill>
            <a:srgbClr val="EEF5EF"/>
          </a:solidFill>
          <a:ln w="8890">
            <a:solidFill>
              <a:srgbClr val="EEF5EF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1E1E1E"/>
                </a:solidFill>
              </a:rPr>
              <a:t>Expected impact</a:t>
            </a:r>
            <a:endParaRPr lang="en-US" sz="1600" dirty="0"/>
          </a:p>
          <a:p>
            <a:pPr marL="0" indent="0" algn="l">
              <a:buNone/>
            </a:pPr>
            <a:r>
              <a:rPr lang="en-US" sz="1600" dirty="0">
                <a:solidFill>
                  <a:srgbClr val="1E1E1E"/>
                </a:solidFill>
              </a:rPr>
              <a:t>If validated longitudinally, this framework could help identify patients who appear emotionally preserved early after stroke but may later experience SIS emotion decline.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77240" y="3886200"/>
            <a:ext cx="3200400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B07D2B"/>
                </a:solidFill>
              </a:rPr>
              <a:t>How I would phrase the value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77240" y="4251960"/>
            <a:ext cx="10607040" cy="1170432"/>
          </a:xfrm>
          <a:prstGeom prst="rect">
            <a:avLst/>
          </a:prstGeom>
          <a:solidFill>
            <a:srgbClr val="FFFFFF"/>
          </a:solidFill>
          <a:ln w="8890">
            <a:solidFill>
              <a:srgbClr val="C8CED3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E1E1E"/>
                </a:solidFill>
              </a:rPr>
              <a:t>“The preliminary signal suggests that a stress–repair imbalance may be more informative than individual pathway changes alone. If this imbalance is also observed longitudinally and precedes later SIS3 decline, it could provide a candidate early indicator of post-stroke emotional vulnerability.”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502920" y="6528816"/>
            <a:ext cx="7863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F6368"/>
                </a:solidFill>
              </a:rPr>
              <a:t>Preliminary, hypothesis-generating analysis for discussion</a:t>
            </a:r>
            <a:endParaRPr lang="en-US" sz="850" dirty="0"/>
          </a:p>
        </p:txBody>
      </p:sp>
      <p:sp>
        <p:nvSpPr>
          <p:cNvPr id="12" name="Text 9"/>
          <p:cNvSpPr/>
          <p:nvPr/>
        </p:nvSpPr>
        <p:spPr>
          <a:xfrm>
            <a:off x="10835640" y="6528816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F6368"/>
                </a:solidFill>
              </a:rPr>
              <a:t>Li Gong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4480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F6F9F"/>
                </a:solidFill>
              </a:rPr>
              <a:t>BACKUP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438912"/>
            <a:ext cx="10972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1E1E"/>
                </a:solidFill>
              </a:rPr>
              <a:t>Analysis workflow and guardrails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969264"/>
            <a:ext cx="11201400" cy="4023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3455B"/>
                </a:solidFill>
              </a:rPr>
              <a:t>The workflow keeps the analysis biologically interpretable while avoiding overclaiming from cross-sectional data.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02920" y="1444752"/>
            <a:ext cx="11201400" cy="0"/>
          </a:xfrm>
          <a:prstGeom prst="line">
            <a:avLst/>
          </a:prstGeom>
          <a:noFill/>
          <a:ln w="10160">
            <a:solidFill>
              <a:srgbClr val="C8CED3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6" name="Text 4"/>
          <p:cNvSpPr/>
          <p:nvPr/>
        </p:nvSpPr>
        <p:spPr>
          <a:xfrm>
            <a:off x="685800" y="1783080"/>
            <a:ext cx="2834640" cy="1325880"/>
          </a:xfrm>
          <a:prstGeom prst="rect">
            <a:avLst/>
          </a:prstGeom>
          <a:solidFill>
            <a:srgbClr val="F5F5F3"/>
          </a:solidFill>
          <a:ln w="8890">
            <a:solidFill>
              <a:srgbClr val="DDDDDD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l">
              <a:buNone/>
            </a:pPr>
            <a:r>
              <a:rPr lang="en-US" sz="1460" dirty="0">
                <a:solidFill>
                  <a:srgbClr val="1E1E1E"/>
                </a:solidFill>
              </a:rPr>
              <a:t>Data</a:t>
            </a:r>
            <a:endParaRPr lang="en-US" sz="1460" dirty="0"/>
          </a:p>
          <a:p>
            <a:pPr marL="0" indent="0" algn="l">
              <a:buNone/>
            </a:pPr>
            <a:r>
              <a:rPr lang="en-US" sz="1460" dirty="0">
                <a:solidFill>
                  <a:srgbClr val="1E1E1E"/>
                </a:solidFill>
              </a:rPr>
              <a:t>85 patients with SIS3 and plasma proteomic data</a:t>
            </a:r>
            <a:endParaRPr lang="en-US" sz="1460" dirty="0"/>
          </a:p>
          <a:p>
            <a:pPr marL="0" indent="0" algn="l">
              <a:buNone/>
            </a:pPr>
            <a:r>
              <a:rPr lang="en-US" sz="1460" dirty="0">
                <a:solidFill>
                  <a:srgbClr val="1E1E1E"/>
                </a:solidFill>
              </a:rPr>
              <a:t>Lower SIS3 ≤63; Higher SIS3 &gt;63</a:t>
            </a:r>
            <a:endParaRPr lang="en-US" sz="1460" dirty="0"/>
          </a:p>
          <a:p>
            <a:pPr marL="0" indent="0" algn="l">
              <a:buNone/>
            </a:pPr>
            <a:r>
              <a:rPr lang="en-US" sz="1460" dirty="0">
                <a:solidFill>
                  <a:srgbClr val="1E1E1E"/>
                </a:solidFill>
              </a:rPr>
              <a:t>Time bins: 0–1 y, 1–3 y, &gt;3 y</a:t>
            </a:r>
            <a:endParaRPr lang="en-US" sz="1460" dirty="0"/>
          </a:p>
        </p:txBody>
      </p:sp>
      <p:sp>
        <p:nvSpPr>
          <p:cNvPr id="7" name="Text 5"/>
          <p:cNvSpPr/>
          <p:nvPr/>
        </p:nvSpPr>
        <p:spPr>
          <a:xfrm>
            <a:off x="3703320" y="1783080"/>
            <a:ext cx="2834640" cy="1325880"/>
          </a:xfrm>
          <a:prstGeom prst="rect">
            <a:avLst/>
          </a:prstGeom>
          <a:solidFill>
            <a:srgbClr val="F5F5F3"/>
          </a:solidFill>
          <a:ln w="8890">
            <a:solidFill>
              <a:srgbClr val="DDDDDD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l">
              <a:buNone/>
            </a:pPr>
            <a:r>
              <a:rPr lang="en-US" sz="1460" dirty="0">
                <a:solidFill>
                  <a:srgbClr val="1E1E1E"/>
                </a:solidFill>
              </a:rPr>
              <a:t>Proteomic processing</a:t>
            </a:r>
            <a:endParaRPr lang="en-US" sz="1460" dirty="0"/>
          </a:p>
          <a:p>
            <a:pPr marL="0" indent="0" algn="l">
              <a:buNone/>
            </a:pPr>
            <a:r>
              <a:rPr lang="en-US" sz="1460" dirty="0">
                <a:solidFill>
                  <a:srgbClr val="1E1E1E"/>
                </a:solidFill>
              </a:rPr>
              <a:t>Remove low-detection proteins</a:t>
            </a:r>
            <a:endParaRPr lang="en-US" sz="1460" dirty="0"/>
          </a:p>
          <a:p>
            <a:pPr marL="0" indent="0" algn="l">
              <a:buNone/>
            </a:pPr>
            <a:r>
              <a:rPr lang="en-US" sz="1460" dirty="0">
                <a:solidFill>
                  <a:srgbClr val="1E1E1E"/>
                </a:solidFill>
              </a:rPr>
              <a:t>Z-standardize NPX across patients</a:t>
            </a:r>
            <a:endParaRPr lang="en-US" sz="1460" dirty="0"/>
          </a:p>
          <a:p>
            <a:pPr marL="0" indent="0" algn="l">
              <a:buNone/>
            </a:pPr>
            <a:r>
              <a:rPr lang="en-US" sz="1460" dirty="0">
                <a:solidFill>
                  <a:srgbClr val="1E1E1E"/>
                </a:solidFill>
              </a:rPr>
              <a:t>Map proteins to literature-aligned modules</a:t>
            </a:r>
            <a:endParaRPr lang="en-US" sz="1460" dirty="0"/>
          </a:p>
        </p:txBody>
      </p:sp>
      <p:sp>
        <p:nvSpPr>
          <p:cNvPr id="8" name="Text 6"/>
          <p:cNvSpPr/>
          <p:nvPr/>
        </p:nvSpPr>
        <p:spPr>
          <a:xfrm>
            <a:off x="6720840" y="1783080"/>
            <a:ext cx="2834640" cy="1325880"/>
          </a:xfrm>
          <a:prstGeom prst="rect">
            <a:avLst/>
          </a:prstGeom>
          <a:solidFill>
            <a:srgbClr val="F5F5F3"/>
          </a:solidFill>
          <a:ln w="8890">
            <a:solidFill>
              <a:srgbClr val="DDDDDD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l">
              <a:buNone/>
            </a:pPr>
            <a:r>
              <a:rPr lang="en-US" sz="1460" dirty="0">
                <a:solidFill>
                  <a:srgbClr val="1E1E1E"/>
                </a:solidFill>
              </a:rPr>
              <a:t>Profiles</a:t>
            </a:r>
            <a:endParaRPr lang="en-US" sz="1460" dirty="0"/>
          </a:p>
          <a:p>
            <a:pPr marL="0" indent="0" algn="l">
              <a:buNone/>
            </a:pPr>
            <a:r>
              <a:rPr lang="en-US" sz="1460" dirty="0">
                <a:solidFill>
                  <a:srgbClr val="1E1E1E"/>
                </a:solidFill>
              </a:rPr>
              <a:t>Stress-response activation</a:t>
            </a:r>
            <a:endParaRPr lang="en-US" sz="1460" dirty="0"/>
          </a:p>
          <a:p>
            <a:pPr marL="0" indent="0" algn="l">
              <a:buNone/>
            </a:pPr>
            <a:r>
              <a:rPr lang="en-US" sz="1460" dirty="0">
                <a:solidFill>
                  <a:srgbClr val="1E1E1E"/>
                </a:solidFill>
              </a:rPr>
              <a:t>Repair/neurovascular remodeling</a:t>
            </a:r>
            <a:endParaRPr lang="en-US" sz="1460" dirty="0"/>
          </a:p>
          <a:p>
            <a:pPr marL="0" indent="0" algn="l">
              <a:buNone/>
            </a:pPr>
            <a:r>
              <a:rPr lang="en-US" sz="1460" dirty="0">
                <a:solidFill>
                  <a:srgbClr val="1E1E1E"/>
                </a:solidFill>
              </a:rPr>
              <a:t>Stress–repair imbalance = stress − repair</a:t>
            </a:r>
            <a:endParaRPr lang="en-US" sz="1460" dirty="0"/>
          </a:p>
        </p:txBody>
      </p:sp>
      <p:sp>
        <p:nvSpPr>
          <p:cNvPr id="9" name="Text 7"/>
          <p:cNvSpPr/>
          <p:nvPr/>
        </p:nvSpPr>
        <p:spPr>
          <a:xfrm>
            <a:off x="9738360" y="1783080"/>
            <a:ext cx="1828800" cy="1325880"/>
          </a:xfrm>
          <a:prstGeom prst="rect">
            <a:avLst/>
          </a:prstGeom>
          <a:solidFill>
            <a:srgbClr val="F5F5F3"/>
          </a:solidFill>
          <a:ln w="8890">
            <a:solidFill>
              <a:srgbClr val="DDDDDD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l">
              <a:buNone/>
            </a:pPr>
            <a:r>
              <a:rPr lang="en-US" sz="1330" dirty="0">
                <a:solidFill>
                  <a:srgbClr val="1E1E1E"/>
                </a:solidFill>
              </a:rPr>
              <a:t>Outputs</a:t>
            </a:r>
            <a:endParaRPr lang="en-US" sz="1330" dirty="0"/>
          </a:p>
          <a:p>
            <a:pPr marL="0" indent="0" algn="l">
              <a:buNone/>
            </a:pPr>
            <a:r>
              <a:rPr lang="en-US" sz="1330" dirty="0">
                <a:solidFill>
                  <a:srgbClr val="1E1E1E"/>
                </a:solidFill>
              </a:rPr>
              <a:t>Lower vs higher SIS3 comparisons</a:t>
            </a:r>
            <a:endParaRPr lang="en-US" sz="1330" dirty="0"/>
          </a:p>
          <a:p>
            <a:pPr marL="0" indent="0" algn="l">
              <a:buNone/>
            </a:pPr>
            <a:r>
              <a:rPr lang="en-US" sz="1330" dirty="0">
                <a:solidFill>
                  <a:srgbClr val="1E1E1E"/>
                </a:solidFill>
              </a:rPr>
              <a:t>Time-stratified patterns</a:t>
            </a:r>
            <a:endParaRPr lang="en-US" sz="1330" dirty="0"/>
          </a:p>
          <a:p>
            <a:pPr marL="0" indent="0" algn="l">
              <a:buNone/>
            </a:pPr>
            <a:r>
              <a:rPr lang="en-US" sz="1330" dirty="0">
                <a:solidFill>
                  <a:srgbClr val="1E1E1E"/>
                </a:solidFill>
              </a:rPr>
              <a:t>Longitudinal hypotheses</a:t>
            </a:r>
            <a:endParaRPr lang="en-US" sz="1330" dirty="0"/>
          </a:p>
        </p:txBody>
      </p:sp>
      <p:sp>
        <p:nvSpPr>
          <p:cNvPr id="10" name="Text 8"/>
          <p:cNvSpPr/>
          <p:nvPr/>
        </p:nvSpPr>
        <p:spPr>
          <a:xfrm>
            <a:off x="823716" y="3703320"/>
            <a:ext cx="3062484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B07D2B"/>
                </a:solidFill>
              </a:rPr>
              <a:t>Guardrails in interpretation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85800" y="4069080"/>
            <a:ext cx="10469880" cy="11430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1E1E1E"/>
                </a:solidFill>
              </a:rPr>
              <a:t>• Cross-sectional data cannot establish within-patient progression.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1E1E1E"/>
                </a:solidFill>
              </a:rPr>
              <a:t>• Subgroup size is limited and imbalanced across SIS3/time bins.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1E1E1E"/>
                </a:solidFill>
              </a:rPr>
              <a:t>• Current results are hypothesis-generating and need longitudinal validation.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1E1E1E"/>
                </a:solidFill>
              </a:rPr>
              <a:t>• The purpose is to define a candidate biological feature, not a clinical biomarker claim yet.</a:t>
            </a:r>
            <a:endParaRPr lang="en-US" sz="1700" dirty="0"/>
          </a:p>
        </p:txBody>
      </p:sp>
      <p:sp>
        <p:nvSpPr>
          <p:cNvPr id="13" name="Text 10"/>
          <p:cNvSpPr/>
          <p:nvPr/>
        </p:nvSpPr>
        <p:spPr>
          <a:xfrm>
            <a:off x="502920" y="6528816"/>
            <a:ext cx="7863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F6368"/>
                </a:solidFill>
              </a:rPr>
              <a:t>Preliminary, hypothesis-generating analysis for discussion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10835640" y="6528816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F6368"/>
                </a:solidFill>
              </a:rPr>
              <a:t>Li Gong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4480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F6F9F"/>
                </a:solidFill>
              </a:rPr>
              <a:t>QUESTIONS FOR DR. LANSBERG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438912"/>
            <a:ext cx="10972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1E1E"/>
                </a:solidFill>
              </a:rPr>
              <a:t>Discussion close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969264"/>
            <a:ext cx="11201400" cy="4023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3455B"/>
                </a:solidFill>
              </a:rPr>
              <a:t>The best outcome is clear advice on whether this is the right framing and what dataset/analysis would make it credible.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02920" y="1444752"/>
            <a:ext cx="11201400" cy="0"/>
          </a:xfrm>
          <a:prstGeom prst="line">
            <a:avLst/>
          </a:prstGeom>
          <a:noFill/>
          <a:ln w="10160">
            <a:solidFill>
              <a:srgbClr val="C8CED3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6" name="Text 4"/>
          <p:cNvSpPr/>
          <p:nvPr/>
        </p:nvSpPr>
        <p:spPr>
          <a:xfrm>
            <a:off x="777240" y="1828800"/>
            <a:ext cx="5120640" cy="914400"/>
          </a:xfrm>
          <a:prstGeom prst="rect">
            <a:avLst/>
          </a:prstGeom>
          <a:solidFill>
            <a:srgbClr val="FFFFFF"/>
          </a:solidFill>
          <a:ln w="8890">
            <a:solidFill>
              <a:srgbClr val="C8CED3"/>
            </a:solidFill>
          </a:ln>
        </p:spPr>
        <p:txBody>
          <a:bodyPr wrap="square" lIns="1524" tIns="1524" rIns="1524" bIns="1524" rtlCol="0" anchor="ctr">
            <a:normAutofit fontScale="92500"/>
          </a:bodyPr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E1E1E"/>
                </a:solidFill>
              </a:rPr>
              <a:t>Biological framing</a:t>
            </a:r>
            <a:endParaRPr lang="en-US" sz="1700" dirty="0"/>
          </a:p>
          <a:p>
            <a:pPr marL="0" indent="0" algn="l">
              <a:buNone/>
            </a:pPr>
            <a:r>
              <a:rPr lang="en-US" sz="1700" b="1" dirty="0">
                <a:solidFill>
                  <a:srgbClr val="1E1E1E"/>
                </a:solidFill>
              </a:rPr>
              <a:t>Is stress–repair imbalance a reasonable way to summarize the signal, or would you frame it differently?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309360" y="1828800"/>
            <a:ext cx="5120640" cy="914400"/>
          </a:xfrm>
          <a:prstGeom prst="rect">
            <a:avLst/>
          </a:prstGeom>
          <a:solidFill>
            <a:srgbClr val="FFFFFF"/>
          </a:solidFill>
          <a:ln w="8890">
            <a:solidFill>
              <a:srgbClr val="C8CED3"/>
            </a:solidFill>
          </a:ln>
        </p:spPr>
        <p:txBody>
          <a:bodyPr wrap="square" lIns="1524" tIns="1524" rIns="1524" bIns="1524" rtlCol="0" anchor="ctr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E1E1E"/>
                </a:solidFill>
              </a:rPr>
              <a:t>Outcome and timing</a:t>
            </a:r>
            <a:endParaRPr lang="en-US" sz="1700" dirty="0"/>
          </a:p>
          <a:p>
            <a:pPr marL="0" indent="0" algn="l">
              <a:buNone/>
            </a:pPr>
            <a:r>
              <a:rPr lang="en-US" sz="1700" b="1" dirty="0">
                <a:solidFill>
                  <a:srgbClr val="1E1E1E"/>
                </a:solidFill>
              </a:rPr>
              <a:t>Would SIS3 trajectory be the right longitudinal endpoint, or should this be broadened to mood/cognition/recovery?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777240" y="3246120"/>
            <a:ext cx="5120640" cy="914400"/>
          </a:xfrm>
          <a:prstGeom prst="rect">
            <a:avLst/>
          </a:prstGeom>
          <a:solidFill>
            <a:srgbClr val="FFFFFF"/>
          </a:solidFill>
          <a:ln w="8890">
            <a:solidFill>
              <a:srgbClr val="C8CED3"/>
            </a:solidFill>
          </a:ln>
        </p:spPr>
        <p:txBody>
          <a:bodyPr wrap="square" lIns="1524" tIns="1524" rIns="1524" bIns="1524" rtlCol="0" anchor="ctr">
            <a:normAutofit fontScale="92500"/>
          </a:bodyPr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E1E1E"/>
                </a:solidFill>
              </a:rPr>
              <a:t>Most convincing next step</a:t>
            </a:r>
            <a:endParaRPr lang="en-US" sz="1700" dirty="0"/>
          </a:p>
          <a:p>
            <a:pPr marL="0" indent="0" algn="l">
              <a:buNone/>
            </a:pPr>
            <a:r>
              <a:rPr lang="en-US" sz="1700" b="1" dirty="0">
                <a:solidFill>
                  <a:srgbClr val="1E1E1E"/>
                </a:solidFill>
              </a:rPr>
              <a:t>Repeated proteomics? Imaging integration? External validation? A specific cohort or trial dataset?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309360" y="3246120"/>
            <a:ext cx="5120640" cy="914400"/>
          </a:xfrm>
          <a:prstGeom prst="rect">
            <a:avLst/>
          </a:prstGeom>
          <a:solidFill>
            <a:srgbClr val="FFFFFF"/>
          </a:solidFill>
          <a:ln w="8890">
            <a:solidFill>
              <a:srgbClr val="C8CED3"/>
            </a:solidFill>
          </a:ln>
        </p:spPr>
        <p:txBody>
          <a:bodyPr wrap="square" lIns="1524" tIns="1524" rIns="1524" bIns="1524" rtlCol="0" anchor="ctr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E1E1E"/>
                </a:solidFill>
              </a:rPr>
              <a:t>Potential fit</a:t>
            </a:r>
            <a:endParaRPr lang="en-US" sz="1700" dirty="0"/>
          </a:p>
          <a:p>
            <a:pPr marL="0" indent="0" algn="l">
              <a:buNone/>
            </a:pPr>
            <a:r>
              <a:rPr lang="en-US" sz="1700" b="1" dirty="0">
                <a:solidFill>
                  <a:srgbClr val="1E1E1E"/>
                </a:solidFill>
              </a:rPr>
              <a:t>Could this be shaped into a focused fellowship/postdoctoral project or related collaborative contribution?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868680" y="4892040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B07D2B"/>
                </a:solidFill>
              </a:rPr>
              <a:t>Closing sentence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868680" y="5230368"/>
            <a:ext cx="10378440" cy="621792"/>
          </a:xfrm>
          <a:prstGeom prst="rect">
            <a:avLst/>
          </a:prstGeom>
          <a:solidFill>
            <a:srgbClr val="EAF3F8"/>
          </a:solidFill>
          <a:ln w="8890">
            <a:solidFill>
              <a:srgbClr val="EAF3F8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1E1E"/>
                </a:solidFill>
              </a:rPr>
              <a:t>“I would be very grateful for your advice on whether this is a biologically reasonable and feasible first step, and what analysis would make the longitudinal hypothesis stronger.”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502920" y="6528816"/>
            <a:ext cx="7863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F6368"/>
                </a:solidFill>
              </a:rPr>
              <a:t>Preliminary, hypothesis-generating analysis for discussion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10835640" y="6528816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F6368"/>
                </a:solidFill>
              </a:rPr>
              <a:t>Li Gong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2C1437F-272D-7E3E-F265-74F9962A5D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247559"/>
            <a:ext cx="4563112" cy="115268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3867F06-6D5E-CD62-EF31-BEA0A50D4C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722" y="3445458"/>
            <a:ext cx="5390918" cy="103408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4E89EB4-4713-407B-91AD-A2A4ADD068E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4921875"/>
            <a:ext cx="5304143" cy="171321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ABFA40A-A6B1-A1B6-41E8-C061660E6E6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45558"/>
            <a:ext cx="3784021" cy="206984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36B3E4AA-D478-3EF1-FE57-E49F735FA60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53440" y="42167"/>
            <a:ext cx="2550074" cy="1674388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A93F5F75-18E6-628C-2BA6-26C1A308385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32990" y="-12353"/>
            <a:ext cx="2955814" cy="1786212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1A652A69-F4D2-CC7B-6D20-52E0A07FD5B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428640" y="4979307"/>
            <a:ext cx="4020548" cy="1713209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9CB1F73B-E792-23DC-6315-38026B428078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913497" y="42167"/>
            <a:ext cx="2410467" cy="1651894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E91AAEDE-F7C8-0B5B-1374-232EAB918006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189907" y="1808837"/>
            <a:ext cx="3724781" cy="278370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05B54B4-88BA-5A4E-6610-8B695DF72415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132990" y="1973392"/>
            <a:ext cx="3124920" cy="2533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949628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5E4EFA0-0B36-2436-8478-CA95028B61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9024"/>
            <a:ext cx="7860766" cy="70450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D1081FB-CCD5-7CBB-9243-C9EE952915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53205"/>
            <a:ext cx="6508134" cy="196201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C9891D0-F65E-A53E-B5D3-6A94F3FE4AE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2803889"/>
            <a:ext cx="5947175" cy="252770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59D3364-0E9C-0A32-FE50-51BE417EFB2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08133" y="518733"/>
            <a:ext cx="5561291" cy="341781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E0565001-9EA7-F21A-4AFF-1653869F589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5331592"/>
            <a:ext cx="6026309" cy="447956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585A6DFF-B598-22BE-9399-32D87AEDD71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26315" y="1608033"/>
            <a:ext cx="3665686" cy="1090917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BAFEAFB7-6E55-D1DD-AF59-3BE45EAE159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0" y="5854567"/>
            <a:ext cx="4434305" cy="524694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09D552BE-DA97-837B-42F4-FD0442B093E8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165693" y="4067740"/>
            <a:ext cx="5947174" cy="27337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889935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06995E9-1D31-41E7-04B9-F6C5439CE5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404" y="1074563"/>
            <a:ext cx="8696796" cy="3709878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84B87011-B7BD-3445-C716-3ACF684BCA7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60882"/>
          <a:stretch>
            <a:fillRect/>
          </a:stretch>
        </p:blipFill>
        <p:spPr>
          <a:xfrm>
            <a:off x="7987323" y="238295"/>
            <a:ext cx="3829538" cy="58758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73429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1709</Words>
  <Application>Microsoft Office PowerPoint</Application>
  <PresentationFormat>Widescreen</PresentationFormat>
  <Paragraphs>189</Paragraphs>
  <Slides>13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5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University of Toronto / Sunnybrook Research Institute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Stress–Repair Proteomic Imbalance and SIS Emotion After Stroke</dc:title>
  <dc:subject>Preliminary StrokeCog stress–repair imbalance discussion deck</dc:subject>
  <dc:creator>Li Gong</dc:creator>
  <cp:lastModifiedBy>Li Gong</cp:lastModifiedBy>
  <cp:revision>5</cp:revision>
  <dcterms:created xsi:type="dcterms:W3CDTF">2026-07-20T16:35:42Z</dcterms:created>
  <dcterms:modified xsi:type="dcterms:W3CDTF">2026-07-22T00:02:49Z</dcterms:modified>
</cp:coreProperties>
</file>