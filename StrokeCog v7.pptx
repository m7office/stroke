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4"/>
  </p:notesMasterIdLst>
  <p:sldIdLst>
    <p:sldId id="256" r:id="rId2"/>
    <p:sldId id="264" r:id="rId3"/>
    <p:sldId id="272" r:id="rId4"/>
    <p:sldId id="257" r:id="rId5"/>
    <p:sldId id="265" r:id="rId6"/>
    <p:sldId id="274" r:id="rId7"/>
    <p:sldId id="273" r:id="rId8"/>
    <p:sldId id="275" r:id="rId9"/>
    <p:sldId id="268" r:id="rId10"/>
    <p:sldId id="270" r:id="rId11"/>
    <p:sldId id="277" r:id="rId12"/>
    <p:sldId id="278" r:id="rId13"/>
  </p:sldIdLst>
  <p:sldSz cx="1259998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88" autoAdjust="0"/>
    <p:restoredTop sz="96723" autoAdjust="0"/>
  </p:normalViewPr>
  <p:slideViewPr>
    <p:cSldViewPr snapToGrid="0">
      <p:cViewPr varScale="1">
        <p:scale>
          <a:sx n="122" d="100"/>
          <a:sy n="122" d="100"/>
        </p:scale>
        <p:origin x="2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6DA8F-FA20-443C-9D4F-90C451E0BF66}" type="datetimeFigureOut">
              <a:rPr lang="en-CA" smtClean="0"/>
              <a:t>2026-07-07</a:t>
            </a:fld>
            <a:endParaRPr lang="en-CA"/>
          </a:p>
        </p:txBody>
      </p:sp>
      <p:sp>
        <p:nvSpPr>
          <p:cNvPr id="4" name="Slide Image Placeholder 3"/>
          <p:cNvSpPr>
            <a:spLocks noGrp="1" noRot="1" noChangeAspect="1"/>
          </p:cNvSpPr>
          <p:nvPr>
            <p:ph type="sldImg" idx="2"/>
          </p:nvPr>
        </p:nvSpPr>
        <p:spPr>
          <a:xfrm>
            <a:off x="595313" y="1143000"/>
            <a:ext cx="5667375"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4D946-AE82-4C2E-AB3C-ECDD8392AB55}" type="slidenum">
              <a:rPr lang="en-CA" smtClean="0"/>
              <a:t>‹#›</a:t>
            </a:fld>
            <a:endParaRPr lang="en-CA"/>
          </a:p>
        </p:txBody>
      </p:sp>
    </p:spTree>
    <p:extLst>
      <p:ext uri="{BB962C8B-B14F-4D97-AF65-F5344CB8AC3E}">
        <p14:creationId xmlns:p14="http://schemas.microsoft.com/office/powerpoint/2010/main" val="7745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A14D946-AE82-4C2E-AB3C-ECDD8392AB55}" type="slidenum">
              <a:rPr lang="en-CA" smtClean="0"/>
              <a:t>3</a:t>
            </a:fld>
            <a:endParaRPr lang="en-CA"/>
          </a:p>
        </p:txBody>
      </p:sp>
    </p:spTree>
    <p:extLst>
      <p:ext uri="{BB962C8B-B14F-4D97-AF65-F5344CB8AC3E}">
        <p14:creationId xmlns:p14="http://schemas.microsoft.com/office/powerpoint/2010/main" val="1918395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A14D946-AE82-4C2E-AB3C-ECDD8392AB55}" type="slidenum">
              <a:rPr lang="en-CA" smtClean="0"/>
              <a:t>4</a:t>
            </a:fld>
            <a:endParaRPr lang="en-CA"/>
          </a:p>
        </p:txBody>
      </p:sp>
    </p:spTree>
    <p:extLst>
      <p:ext uri="{BB962C8B-B14F-4D97-AF65-F5344CB8AC3E}">
        <p14:creationId xmlns:p14="http://schemas.microsoft.com/office/powerpoint/2010/main" val="3426263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74999" y="1122363"/>
            <a:ext cx="9449991"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74999" y="3602038"/>
            <a:ext cx="944999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350429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63126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9687" y="1709739"/>
            <a:ext cx="1086749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59687" y="4589464"/>
            <a:ext cx="1086749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890531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49" y="1825625"/>
            <a:ext cx="535499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8744" y="1825625"/>
            <a:ext cx="535499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6AFCCF-24AE-4887-9618-F0F2E2356771}" type="datetimeFigureOut">
              <a:rPr lang="en-CA" smtClean="0"/>
              <a:t>2026-07-07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12981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67890" y="365126"/>
            <a:ext cx="1086749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67891" y="1681163"/>
            <a:ext cx="533038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7891" y="2505075"/>
            <a:ext cx="533038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8744" y="1681163"/>
            <a:ext cx="53566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8744" y="2505075"/>
            <a:ext cx="535663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6AFCCF-24AE-4887-9618-F0F2E2356771}" type="datetimeFigureOut">
              <a:rPr lang="en-CA" smtClean="0"/>
              <a:t>2026-07-07</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054789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6AFCCF-24AE-4887-9618-F0F2E2356771}" type="datetimeFigureOut">
              <a:rPr lang="en-CA" smtClean="0"/>
              <a:t>2026-07-07</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815715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6AFCCF-24AE-4887-9618-F0F2E2356771}" type="datetimeFigureOut">
              <a:rPr lang="en-CA" smtClean="0"/>
              <a:t>2026-07-07</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414632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7891" y="457200"/>
            <a:ext cx="4063824"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356636" y="987426"/>
            <a:ext cx="637874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7891" y="2057400"/>
            <a:ext cx="406382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6AFCCF-24AE-4887-9618-F0F2E2356771}" type="datetimeFigureOut">
              <a:rPr lang="en-CA" smtClean="0"/>
              <a:t>2026-07-07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944755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7891" y="457200"/>
            <a:ext cx="4063824"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56636" y="987426"/>
            <a:ext cx="6378744"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7891" y="2057400"/>
            <a:ext cx="406382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6AFCCF-24AE-4887-9618-F0F2E2356771}" type="datetimeFigureOut">
              <a:rPr lang="en-CA" smtClean="0"/>
              <a:t>2026-07-07</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873602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797290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16867" y="365125"/>
            <a:ext cx="2716872"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66249" y="365125"/>
            <a:ext cx="7993117"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366098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98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249" y="365126"/>
            <a:ext cx="1086749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66249" y="1825625"/>
            <a:ext cx="108674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6249" y="6356351"/>
            <a:ext cx="2834997"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6AFCCF-24AE-4887-9618-F0F2E2356771}" type="datetimeFigureOut">
              <a:rPr lang="en-CA" smtClean="0"/>
              <a:t>2026-07-07</a:t>
            </a:fld>
            <a:endParaRPr lang="en-CA"/>
          </a:p>
        </p:txBody>
      </p:sp>
      <p:sp>
        <p:nvSpPr>
          <p:cNvPr id="5" name="Footer Placeholder 4"/>
          <p:cNvSpPr>
            <a:spLocks noGrp="1"/>
          </p:cNvSpPr>
          <p:nvPr>
            <p:ph type="ftr" sz="quarter" idx="3"/>
          </p:nvPr>
        </p:nvSpPr>
        <p:spPr>
          <a:xfrm>
            <a:off x="4173746" y="6356351"/>
            <a:ext cx="4252496"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p:cNvSpPr>
            <a:spLocks noGrp="1"/>
          </p:cNvSpPr>
          <p:nvPr>
            <p:ph type="sldNum" sz="quarter" idx="4"/>
          </p:nvPr>
        </p:nvSpPr>
        <p:spPr>
          <a:xfrm>
            <a:off x="8898742" y="6356351"/>
            <a:ext cx="2834997"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60A0E0-1B89-4B87-805D-071E41B064FF}" type="slidenum">
              <a:rPr lang="en-CA" smtClean="0"/>
              <a:t>‹#›</a:t>
            </a:fld>
            <a:endParaRPr lang="en-CA"/>
          </a:p>
        </p:txBody>
      </p:sp>
    </p:spTree>
    <p:extLst>
      <p:ext uri="{BB962C8B-B14F-4D97-AF65-F5344CB8AC3E}">
        <p14:creationId xmlns:p14="http://schemas.microsoft.com/office/powerpoint/2010/main" val="170572420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32"/>
          <p:cNvSpPr/>
          <p:nvPr/>
        </p:nvSpPr>
        <p:spPr>
          <a:xfrm>
            <a:off x="3304309" y="614811"/>
            <a:ext cx="4251960" cy="558017"/>
          </a:xfrm>
          <a:prstGeom prst="roundRect">
            <a:avLst/>
          </a:prstGeom>
          <a:solidFill>
            <a:srgbClr val="FFFFFF"/>
          </a:solidFill>
          <a:ln w="17780">
            <a:solidFill>
              <a:srgbClr val="0F5FB8"/>
            </a:solidFill>
          </a:ln>
        </p:spPr>
        <p:txBody>
          <a:bodyPr wrap="square" lIns="635" tIns="635" rIns="635" bIns="635" rtlCol="0" anchor="ctr">
            <a:normAutofit/>
          </a:bodyPr>
          <a:lstStyle/>
          <a:p>
            <a:pPr algn="ctr"/>
            <a:r>
              <a:rPr lang="en-US" sz="1200" b="1" dirty="0">
                <a:solidFill>
                  <a:srgbClr val="111111"/>
                </a:solidFill>
                <a:latin typeface="Arial" pitchFamily="34" charset="0"/>
                <a:ea typeface="Arial" pitchFamily="34" charset="-122"/>
                <a:cs typeface="Arial" pitchFamily="34" charset="-120"/>
              </a:rPr>
              <a:t>Analytic cohort</a:t>
            </a:r>
            <a:endParaRPr lang="en-US" sz="1200" dirty="0"/>
          </a:p>
          <a:p>
            <a:pPr algn="ctr"/>
            <a:r>
              <a:rPr lang="en-US" sz="1200" dirty="0">
                <a:solidFill>
                  <a:srgbClr val="111111"/>
                </a:solidFill>
                <a:latin typeface="Arial" pitchFamily="34" charset="0"/>
                <a:ea typeface="Arial" pitchFamily="34" charset="-122"/>
                <a:cs typeface="Arial" pitchFamily="34" charset="-120"/>
              </a:rPr>
              <a:t>85 patients with SIS3 and plasma proteomic data</a:t>
            </a:r>
            <a:endParaRPr lang="en-US" sz="1200" dirty="0"/>
          </a:p>
        </p:txBody>
      </p:sp>
      <p:sp>
        <p:nvSpPr>
          <p:cNvPr id="35" name="Text 33"/>
          <p:cNvSpPr/>
          <p:nvPr/>
        </p:nvSpPr>
        <p:spPr>
          <a:xfrm>
            <a:off x="3304309" y="2446522"/>
            <a:ext cx="4251960" cy="745546"/>
          </a:xfrm>
          <a:prstGeom prst="roundRect">
            <a:avLst/>
          </a:prstGeom>
          <a:solidFill>
            <a:srgbClr val="FFFFFF"/>
          </a:solidFill>
          <a:ln w="17780">
            <a:solidFill>
              <a:srgbClr val="0F5FB8"/>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Define clinical strata</a:t>
            </a:r>
            <a:endParaRPr lang="en-US" sz="1200" dirty="0"/>
          </a:p>
          <a:p>
            <a:pPr algn="ctr"/>
            <a:r>
              <a:rPr lang="en-US" sz="1200" dirty="0">
                <a:solidFill>
                  <a:srgbClr val="111111"/>
                </a:solidFill>
                <a:latin typeface="Arial" pitchFamily="34" charset="0"/>
                <a:ea typeface="Arial" pitchFamily="34" charset="-122"/>
                <a:cs typeface="Arial" pitchFamily="34" charset="-120"/>
              </a:rPr>
              <a:t>Lower SIS3 (≤63) and Higher SIS3 (&gt;63)</a:t>
            </a:r>
            <a:endParaRPr lang="en-US" sz="1200" dirty="0"/>
          </a:p>
          <a:p>
            <a:pPr algn="ctr"/>
            <a:r>
              <a:rPr lang="en-US" sz="1200" dirty="0">
                <a:solidFill>
                  <a:srgbClr val="111111"/>
                </a:solidFill>
                <a:latin typeface="Arial" pitchFamily="34" charset="0"/>
                <a:ea typeface="Arial" pitchFamily="34" charset="-122"/>
                <a:cs typeface="Arial" pitchFamily="34" charset="-120"/>
              </a:rPr>
              <a:t>Time since stroke: 0–1 y, 1–3 y, &gt;3 y</a:t>
            </a:r>
            <a:endParaRPr lang="en-US" sz="1200" dirty="0"/>
          </a:p>
        </p:txBody>
      </p:sp>
      <p:sp>
        <p:nvSpPr>
          <p:cNvPr id="36" name="Text 34"/>
          <p:cNvSpPr/>
          <p:nvPr/>
        </p:nvSpPr>
        <p:spPr>
          <a:xfrm>
            <a:off x="3304309" y="1381909"/>
            <a:ext cx="4251960" cy="860258"/>
          </a:xfrm>
          <a:prstGeom prst="roundRect">
            <a:avLst/>
          </a:prstGeom>
          <a:solidFill>
            <a:srgbClr val="FFFFFF"/>
          </a:solidFill>
          <a:ln w="17780">
            <a:solidFill>
              <a:srgbClr val="0F5FB8"/>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Proteomic processing</a:t>
            </a:r>
            <a:endParaRPr lang="en-US" sz="1200" dirty="0"/>
          </a:p>
          <a:p>
            <a:pPr algn="ctr"/>
            <a:r>
              <a:rPr lang="en-US" sz="1200" dirty="0">
                <a:solidFill>
                  <a:srgbClr val="111111"/>
                </a:solidFill>
                <a:latin typeface="Arial" pitchFamily="34" charset="0"/>
                <a:ea typeface="Arial" pitchFamily="34" charset="-122"/>
                <a:cs typeface="Arial" pitchFamily="34" charset="-120"/>
              </a:rPr>
              <a:t>Remove low-detection proteins</a:t>
            </a:r>
            <a:endParaRPr lang="en-US" sz="1200" dirty="0"/>
          </a:p>
          <a:p>
            <a:pPr algn="ctr"/>
            <a:r>
              <a:rPr lang="en-US" sz="1200" dirty="0">
                <a:solidFill>
                  <a:srgbClr val="111111"/>
                </a:solidFill>
                <a:latin typeface="Arial" pitchFamily="34" charset="0"/>
                <a:ea typeface="Arial" pitchFamily="34" charset="-122"/>
                <a:cs typeface="Arial" pitchFamily="34" charset="-120"/>
              </a:rPr>
              <a:t>Standardize protein values across patients</a:t>
            </a:r>
          </a:p>
        </p:txBody>
      </p:sp>
      <p:sp>
        <p:nvSpPr>
          <p:cNvPr id="37" name="Text 35"/>
          <p:cNvSpPr/>
          <p:nvPr/>
        </p:nvSpPr>
        <p:spPr>
          <a:xfrm>
            <a:off x="3304309" y="3414058"/>
            <a:ext cx="4251960" cy="733692"/>
          </a:xfrm>
          <a:prstGeom prst="roundRect">
            <a:avLst/>
          </a:prstGeom>
          <a:solidFill>
            <a:srgbClr val="FFFFFF"/>
          </a:solidFill>
          <a:ln w="17780">
            <a:solidFill>
              <a:schemeClr val="accent2"/>
            </a:solidFill>
          </a:ln>
        </p:spPr>
        <p:txBody>
          <a:bodyPr wrap="square" lIns="635" tIns="635" rIns="635" bIns="635" rtlCol="0" anchor="ctr">
            <a:normAutofit/>
          </a:bodyPr>
          <a:lstStyle/>
          <a:p>
            <a:pPr algn="ctr"/>
            <a:r>
              <a:rPr lang="en-US" sz="1200" b="1" dirty="0">
                <a:solidFill>
                  <a:srgbClr val="111111"/>
                </a:solidFill>
                <a:latin typeface="Arial" pitchFamily="34" charset="0"/>
                <a:ea typeface="Arial" pitchFamily="34" charset="-122"/>
                <a:cs typeface="Arial" pitchFamily="34" charset="-120"/>
              </a:rPr>
              <a:t>Module-level analysis</a:t>
            </a:r>
            <a:endParaRPr lang="en-US" sz="1200" dirty="0"/>
          </a:p>
          <a:p>
            <a:pPr algn="ctr"/>
            <a:r>
              <a:rPr lang="en-US" sz="1200" dirty="0">
                <a:solidFill>
                  <a:srgbClr val="111111"/>
                </a:solidFill>
                <a:latin typeface="Arial" pitchFamily="34" charset="0"/>
                <a:ea typeface="Arial" pitchFamily="34" charset="-122"/>
                <a:cs typeface="Arial" pitchFamily="34" charset="-120"/>
              </a:rPr>
              <a:t>Map proteins to 12 biological modules</a:t>
            </a:r>
          </a:p>
          <a:p>
            <a:pPr algn="ctr"/>
            <a:r>
              <a:rPr lang="en-US" sz="1200" dirty="0">
                <a:solidFill>
                  <a:srgbClr val="111111"/>
                </a:solidFill>
                <a:latin typeface="Arial" pitchFamily="34" charset="0"/>
                <a:ea typeface="Arial" pitchFamily="34" charset="-122"/>
                <a:cs typeface="Arial" pitchFamily="34" charset="-120"/>
              </a:rPr>
              <a:t>Calculate biological-module values for each patient</a:t>
            </a:r>
            <a:endParaRPr lang="en-US" sz="1200" dirty="0"/>
          </a:p>
        </p:txBody>
      </p:sp>
      <p:sp>
        <p:nvSpPr>
          <p:cNvPr id="38" name="Text 36"/>
          <p:cNvSpPr/>
          <p:nvPr/>
        </p:nvSpPr>
        <p:spPr>
          <a:xfrm>
            <a:off x="3304309" y="4371516"/>
            <a:ext cx="4251960" cy="991220"/>
          </a:xfrm>
          <a:prstGeom prst="roundRect">
            <a:avLst/>
          </a:prstGeom>
          <a:solidFill>
            <a:srgbClr val="FFFFFF"/>
          </a:solidFill>
          <a:ln w="17780">
            <a:solidFill>
              <a:schemeClr val="accent2"/>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Profile derivation</a:t>
            </a:r>
            <a:endParaRPr lang="en-US" sz="1200" dirty="0"/>
          </a:p>
          <a:p>
            <a:pPr algn="ctr"/>
            <a:r>
              <a:rPr lang="en-US" sz="1200" dirty="0">
                <a:solidFill>
                  <a:srgbClr val="111111"/>
                </a:solidFill>
                <a:latin typeface="Arial" pitchFamily="34" charset="0"/>
                <a:ea typeface="Arial" pitchFamily="34" charset="-122"/>
                <a:cs typeface="Arial" pitchFamily="34" charset="-120"/>
              </a:rPr>
              <a:t>Construct stress–repair imbalance profile from</a:t>
            </a:r>
          </a:p>
          <a:p>
            <a:pPr algn="ctr"/>
            <a:r>
              <a:rPr lang="en-US" sz="1200" dirty="0">
                <a:solidFill>
                  <a:srgbClr val="111111"/>
                </a:solidFill>
                <a:latin typeface="Arial" pitchFamily="34" charset="0"/>
                <a:ea typeface="Arial" pitchFamily="34" charset="-122"/>
                <a:cs typeface="Arial" pitchFamily="34" charset="-120"/>
              </a:rPr>
              <a:t>stress–response activation and</a:t>
            </a:r>
            <a:endParaRPr lang="en-US" sz="1200" dirty="0"/>
          </a:p>
          <a:p>
            <a:pPr algn="ctr"/>
            <a:r>
              <a:rPr lang="en-US" sz="1200" dirty="0">
                <a:solidFill>
                  <a:srgbClr val="111111"/>
                </a:solidFill>
                <a:latin typeface="Arial" pitchFamily="34" charset="0"/>
                <a:ea typeface="Arial" pitchFamily="34" charset="-122"/>
                <a:cs typeface="Arial" pitchFamily="34" charset="-120"/>
              </a:rPr>
              <a:t>repair / neurovascular remodeling profiles</a:t>
            </a:r>
            <a:endParaRPr lang="en-US" sz="1200" dirty="0"/>
          </a:p>
        </p:txBody>
      </p:sp>
      <p:cxnSp>
        <p:nvCxnSpPr>
          <p:cNvPr id="53" name="Straight Arrow Connector 52">
            <a:extLst>
              <a:ext uri="{FF2B5EF4-FFF2-40B4-BE49-F238E27FC236}">
                <a16:creationId xmlns:a16="http://schemas.microsoft.com/office/drawing/2014/main" id="{96EA09C7-B11C-D90B-2A1D-2773AA7E794F}"/>
              </a:ext>
            </a:extLst>
          </p:cNvPr>
          <p:cNvCxnSpPr>
            <a:cxnSpLocks/>
            <a:stCxn id="34" idx="2"/>
            <a:endCxn id="36" idx="0"/>
          </p:cNvCxnSpPr>
          <p:nvPr/>
        </p:nvCxnSpPr>
        <p:spPr>
          <a:xfrm>
            <a:off x="5430289" y="1172828"/>
            <a:ext cx="0" cy="20908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4C684D5B-E2AC-71FE-472E-550DD2BC9CDF}"/>
              </a:ext>
            </a:extLst>
          </p:cNvPr>
          <p:cNvCxnSpPr/>
          <p:nvPr/>
        </p:nvCxnSpPr>
        <p:spPr>
          <a:xfrm>
            <a:off x="5449632" y="2250435"/>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B3AF242B-C2AD-AD85-7524-2CCEDE58FC91}"/>
              </a:ext>
            </a:extLst>
          </p:cNvPr>
          <p:cNvCxnSpPr/>
          <p:nvPr/>
        </p:nvCxnSpPr>
        <p:spPr>
          <a:xfrm>
            <a:off x="5461160" y="3200019"/>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351DB54B-1660-B084-60D9-6D9AC0AB07C7}"/>
              </a:ext>
            </a:extLst>
          </p:cNvPr>
          <p:cNvCxnSpPr/>
          <p:nvPr/>
        </p:nvCxnSpPr>
        <p:spPr>
          <a:xfrm>
            <a:off x="5461160" y="4160315"/>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3E2E44BC-3ED4-E9A4-4845-2DD60BB12FF4}"/>
              </a:ext>
            </a:extLst>
          </p:cNvPr>
          <p:cNvCxnSpPr/>
          <p:nvPr/>
        </p:nvCxnSpPr>
        <p:spPr>
          <a:xfrm>
            <a:off x="5461160" y="5375041"/>
            <a:ext cx="0" cy="2036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7F98E8C4-749E-45C1-4F51-BE31B9013C22}"/>
              </a:ext>
            </a:extLst>
          </p:cNvPr>
          <p:cNvCxnSpPr>
            <a:cxnSpLocks/>
            <a:stCxn id="37" idx="3"/>
          </p:cNvCxnSpPr>
          <p:nvPr/>
        </p:nvCxnSpPr>
        <p:spPr>
          <a:xfrm>
            <a:off x="7556269" y="3780904"/>
            <a:ext cx="44662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59AC3A97-2C9E-6C8E-4B4D-391A9AE2EE4F}"/>
              </a:ext>
            </a:extLst>
          </p:cNvPr>
          <p:cNvSpPr txBox="1"/>
          <p:nvPr/>
        </p:nvSpPr>
        <p:spPr>
          <a:xfrm>
            <a:off x="107385" y="800893"/>
            <a:ext cx="2750304" cy="1815882"/>
          </a:xfrm>
          <a:prstGeom prst="rect">
            <a:avLst/>
          </a:prstGeom>
          <a:noFill/>
        </p:spPr>
        <p:txBody>
          <a:bodyPr wrap="square" rtlCol="0">
            <a:spAutoFit/>
          </a:bodyPr>
          <a:lstStyle/>
          <a:p>
            <a:r>
              <a:rPr lang="en-CA" sz="1400" b="1" dirty="0">
                <a:latin typeface="Arial" panose="020B0604020202020204" pitchFamily="34" charset="0"/>
                <a:cs typeface="Arial" panose="020B0604020202020204" pitchFamily="34" charset="0"/>
              </a:rPr>
              <a:t>Preliminary analysis workflow defines a stress–repair plasma proteomic imbalance profile from clinical and proteomic data, then evaluates its association with SIS emotion status and time since stroke</a:t>
            </a:r>
          </a:p>
        </p:txBody>
      </p:sp>
      <p:sp>
        <p:nvSpPr>
          <p:cNvPr id="6" name="Text 37">
            <a:extLst>
              <a:ext uri="{FF2B5EF4-FFF2-40B4-BE49-F238E27FC236}">
                <a16:creationId xmlns:a16="http://schemas.microsoft.com/office/drawing/2014/main" id="{C7681A9B-187C-2E86-AF7F-781B09E10212}"/>
              </a:ext>
            </a:extLst>
          </p:cNvPr>
          <p:cNvSpPr/>
          <p:nvPr/>
        </p:nvSpPr>
        <p:spPr>
          <a:xfrm>
            <a:off x="8002889" y="3195848"/>
            <a:ext cx="4251960" cy="1291024"/>
          </a:xfrm>
          <a:prstGeom prst="roundRect">
            <a:avLst/>
          </a:prstGeom>
          <a:solidFill>
            <a:srgbClr val="FFFFFF"/>
          </a:solidFill>
          <a:ln w="17780">
            <a:solidFill>
              <a:schemeClr val="accent6"/>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Analysis outputs</a:t>
            </a:r>
          </a:p>
          <a:p>
            <a:pPr algn="ctr"/>
            <a:r>
              <a:rPr lang="en-US" sz="1200" dirty="0">
                <a:solidFill>
                  <a:srgbClr val="111111"/>
                </a:solidFill>
                <a:latin typeface="Arial" pitchFamily="34" charset="0"/>
                <a:ea typeface="Arial" pitchFamily="34" charset="-122"/>
                <a:cs typeface="Arial" pitchFamily="34" charset="-120"/>
              </a:rPr>
              <a:t>SIS emotion status-dependent module comparisons</a:t>
            </a:r>
          </a:p>
          <a:p>
            <a:pPr algn="ctr"/>
            <a:r>
              <a:rPr lang="en-US" sz="1200" dirty="0">
                <a:solidFill>
                  <a:srgbClr val="111111"/>
                </a:solidFill>
                <a:latin typeface="Arial" pitchFamily="34" charset="0"/>
                <a:ea typeface="Arial" pitchFamily="34" charset="-122"/>
                <a:cs typeface="Arial" pitchFamily="34" charset="-120"/>
              </a:rPr>
              <a:t>(Lower vs Higher SIS3)</a:t>
            </a:r>
            <a:endParaRPr lang="en-US" sz="1200" dirty="0"/>
          </a:p>
          <a:p>
            <a:pPr algn="ctr"/>
            <a:r>
              <a:rPr lang="en-US" sz="1200" dirty="0">
                <a:solidFill>
                  <a:srgbClr val="111111"/>
                </a:solidFill>
                <a:latin typeface="Arial" pitchFamily="34" charset="0"/>
                <a:ea typeface="Arial" pitchFamily="34" charset="-122"/>
                <a:cs typeface="Arial" pitchFamily="34" charset="-120"/>
              </a:rPr>
              <a:t>Cross-sectional time-stratified module comparisons </a:t>
            </a:r>
          </a:p>
          <a:p>
            <a:pPr algn="ctr"/>
            <a:r>
              <a:rPr lang="en-US" sz="1200" dirty="0">
                <a:solidFill>
                  <a:srgbClr val="111111"/>
                </a:solidFill>
                <a:latin typeface="Arial" pitchFamily="34" charset="0"/>
                <a:ea typeface="Arial" pitchFamily="34" charset="-122"/>
                <a:cs typeface="Arial" pitchFamily="34" charset="-120"/>
              </a:rPr>
              <a:t>(0–1 y, 1–3 y, and &gt;3 y)</a:t>
            </a:r>
          </a:p>
          <a:p>
            <a:pPr algn="ctr"/>
            <a:r>
              <a:rPr lang="en-US" sz="1200" dirty="0">
                <a:solidFill>
                  <a:srgbClr val="111111"/>
                </a:solidFill>
                <a:latin typeface="Arial" pitchFamily="34" charset="0"/>
                <a:cs typeface="Arial" pitchFamily="34" charset="-120"/>
              </a:rPr>
              <a:t>Biological heterogeneity among patients with similar SIS3</a:t>
            </a:r>
            <a:endParaRPr lang="en-US" sz="1200" dirty="0"/>
          </a:p>
        </p:txBody>
      </p:sp>
      <p:sp>
        <p:nvSpPr>
          <p:cNvPr id="9" name="Text 37">
            <a:extLst>
              <a:ext uri="{FF2B5EF4-FFF2-40B4-BE49-F238E27FC236}">
                <a16:creationId xmlns:a16="http://schemas.microsoft.com/office/drawing/2014/main" id="{11DBDECC-471D-95C5-0845-FFC431D17675}"/>
              </a:ext>
            </a:extLst>
          </p:cNvPr>
          <p:cNvSpPr/>
          <p:nvPr/>
        </p:nvSpPr>
        <p:spPr>
          <a:xfrm>
            <a:off x="3323652" y="5593800"/>
            <a:ext cx="4251960" cy="1091367"/>
          </a:xfrm>
          <a:prstGeom prst="roundRect">
            <a:avLst/>
          </a:prstGeom>
          <a:solidFill>
            <a:srgbClr val="FFFFFF"/>
          </a:solidFill>
          <a:ln w="17780">
            <a:solidFill>
              <a:schemeClr val="accent6"/>
            </a:solidFill>
          </a:ln>
        </p:spPr>
        <p:txBody>
          <a:bodyPr wrap="square" lIns="635" tIns="635" rIns="635" bIns="635" rtlCol="0" anchor="ctr">
            <a:noAutofit/>
          </a:bodyPr>
          <a:lstStyle/>
          <a:p>
            <a:pPr algn="ctr"/>
            <a:r>
              <a:rPr lang="en-US" sz="1200" b="1" dirty="0">
                <a:solidFill>
                  <a:srgbClr val="111111"/>
                </a:solidFill>
                <a:latin typeface="Arial" pitchFamily="34" charset="0"/>
                <a:ea typeface="Arial" pitchFamily="34" charset="-122"/>
                <a:cs typeface="Arial" pitchFamily="34" charset="-120"/>
              </a:rPr>
              <a:t>Analysis outputs</a:t>
            </a:r>
          </a:p>
          <a:p>
            <a:pPr algn="ctr"/>
            <a:r>
              <a:rPr lang="en-US" sz="1200" dirty="0">
                <a:solidFill>
                  <a:srgbClr val="111111"/>
                </a:solidFill>
                <a:latin typeface="Arial" pitchFamily="34" charset="0"/>
                <a:ea typeface="Arial" pitchFamily="34" charset="-122"/>
                <a:cs typeface="Arial" pitchFamily="34" charset="-120"/>
              </a:rPr>
              <a:t>SIS emotion status-dependent module comparisons</a:t>
            </a:r>
          </a:p>
          <a:p>
            <a:pPr algn="ctr"/>
            <a:r>
              <a:rPr lang="en-US" sz="1200" dirty="0">
                <a:solidFill>
                  <a:srgbClr val="111111"/>
                </a:solidFill>
                <a:latin typeface="Arial" pitchFamily="34" charset="0"/>
                <a:ea typeface="Arial" pitchFamily="34" charset="-122"/>
                <a:cs typeface="Arial" pitchFamily="34" charset="-120"/>
              </a:rPr>
              <a:t>(Lower vs Higher SIS3)</a:t>
            </a:r>
            <a:endParaRPr lang="en-US" sz="1200" dirty="0"/>
          </a:p>
          <a:p>
            <a:pPr algn="ctr"/>
            <a:r>
              <a:rPr lang="en-US" sz="1200" dirty="0">
                <a:solidFill>
                  <a:srgbClr val="111111"/>
                </a:solidFill>
                <a:latin typeface="Arial" pitchFamily="34" charset="0"/>
                <a:ea typeface="Arial" pitchFamily="34" charset="-122"/>
                <a:cs typeface="Arial" pitchFamily="34" charset="-120"/>
              </a:rPr>
              <a:t>Cross-sectional time-stratified module comparisons </a:t>
            </a:r>
          </a:p>
          <a:p>
            <a:pPr algn="ctr"/>
            <a:r>
              <a:rPr lang="en-US" sz="1200" dirty="0">
                <a:solidFill>
                  <a:srgbClr val="111111"/>
                </a:solidFill>
                <a:latin typeface="Arial" pitchFamily="34" charset="0"/>
                <a:ea typeface="Arial" pitchFamily="34" charset="-122"/>
                <a:cs typeface="Arial" pitchFamily="34" charset="-120"/>
              </a:rPr>
              <a:t>(0–1 y, 1–3 y, and &gt;3 y)</a:t>
            </a:r>
          </a:p>
        </p:txBody>
      </p:sp>
      <p:sp>
        <p:nvSpPr>
          <p:cNvPr id="11" name="Title 10">
            <a:extLst>
              <a:ext uri="{FF2B5EF4-FFF2-40B4-BE49-F238E27FC236}">
                <a16:creationId xmlns:a16="http://schemas.microsoft.com/office/drawing/2014/main" id="{5CAC810B-7376-D05E-4DF8-913DCBC1C781}"/>
              </a:ext>
            </a:extLst>
          </p:cNvPr>
          <p:cNvSpPr>
            <a:spLocks noGrp="1"/>
          </p:cNvSpPr>
          <p:nvPr>
            <p:ph type="title"/>
          </p:nvPr>
        </p:nvSpPr>
        <p:spPr>
          <a:xfrm>
            <a:off x="866249" y="2391"/>
            <a:ext cx="10867490" cy="583936"/>
          </a:xfrm>
        </p:spPr>
        <p:txBody>
          <a:bodyPr>
            <a:normAutofit/>
          </a:bodyPr>
          <a:lstStyle/>
          <a:p>
            <a:r>
              <a:rPr lang="en-CA" sz="2400" b="1" dirty="0">
                <a:latin typeface="Arial" panose="020B0604020202020204" pitchFamily="34" charset="0"/>
                <a:cs typeface="Arial" panose="020B0604020202020204" pitchFamily="34" charset="0"/>
              </a:rPr>
              <a:t>Slide 1 Analysis workflow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E29CE7D8-1288-A20D-8562-7E4C4C7D9E37}"/>
              </a:ext>
            </a:extLst>
          </p:cNvPr>
          <p:cNvSpPr txBox="1"/>
          <p:nvPr/>
        </p:nvSpPr>
        <p:spPr>
          <a:xfrm>
            <a:off x="318155" y="7565585"/>
            <a:ext cx="2589987" cy="734560"/>
          </a:xfrm>
          <a:prstGeom prst="rect">
            <a:avLst/>
          </a:prstGeom>
          <a:noFill/>
        </p:spPr>
        <p:txBody>
          <a:bodyPr wrap="square">
            <a:spAutoFit/>
          </a:bodyPr>
          <a:lstStyle/>
          <a:p>
            <a:r>
              <a:rPr lang="en-CA" sz="261" dirty="0"/>
              <a:t>Bars show the mean biological module score in patients with lower SIS3 versus higher SIS3. Each biological module summarizes a set of plasma proteins linked to processes relevant to chronic stroke, mood regulation, inflammation, vascular injury, systemic stress, and recovery. Because biological functions overlap, some proteins were allowed to contribute to more than one module. </a:t>
            </a:r>
          </a:p>
          <a:p>
            <a:endParaRPr lang="en-CA" sz="261" dirty="0"/>
          </a:p>
          <a:p>
            <a:r>
              <a:rPr lang="en-CA" sz="261" dirty="0"/>
              <a:t>Positive and negative values indicate module activity above or below the cohort average.</a:t>
            </a:r>
          </a:p>
          <a:p>
            <a:endParaRPr lang="en-CA" sz="261" dirty="0"/>
          </a:p>
          <a:p>
            <a:r>
              <a:rPr lang="en-CA" sz="261" dirty="0"/>
              <a:t>Lower SIS3 was associated with a more polarized module profile, with relative activation of monoamine/vesicle/stress-related signals and relative restraint of vascular-remodeling, immune-coagulation, and neuroplasticity-related modules. In contrast, higher SIS3 showed a more generally suppressed module pattern, suggesting that worse mood may reflect disrupted coordination between stress-response and repair biology.</a:t>
            </a:r>
          </a:p>
          <a:p>
            <a:endParaRPr lang="en-CA" sz="261" dirty="0"/>
          </a:p>
          <a:p>
            <a:r>
              <a:rPr lang="en-CA" sz="261" dirty="0"/>
              <a:t>Methods: Mean biological module scores were calculated from raw </a:t>
            </a:r>
            <a:r>
              <a:rPr lang="en-CA" sz="261" dirty="0" err="1"/>
              <a:t>Olink</a:t>
            </a:r>
            <a:r>
              <a:rPr lang="en-CA" sz="261" dirty="0"/>
              <a:t> NPX data. Low-detection proteins were removed, retained proteins were z-scored across patients, and proteins were assigned to one or more literature-aligned biological modules. For each patient, each module score was calculated as the average z-scored NPX value of retained proteins assigned to that module. Lower SIS3 (threshold 63) indicates worse mood/emotional function.</a:t>
            </a:r>
          </a:p>
          <a:p>
            <a:endParaRPr lang="en-CA" sz="261" dirty="0"/>
          </a:p>
          <a:p>
            <a:r>
              <a:rPr lang="en-CA" sz="261" dirty="0"/>
              <a:t>p values compare patient-level module scores between lower- and higher-SIS3 groups using two-sided Mann–Whitney U tests. Confidence intervals show bootstrap 95% CIs for the mean difference, Low SIS3 minus High SIS3.</a:t>
            </a:r>
          </a:p>
        </p:txBody>
      </p:sp>
      <p:pic>
        <p:nvPicPr>
          <p:cNvPr id="14" name="Graphic 13">
            <a:extLst>
              <a:ext uri="{FF2B5EF4-FFF2-40B4-BE49-F238E27FC236}">
                <a16:creationId xmlns:a16="http://schemas.microsoft.com/office/drawing/2014/main" id="{CD01F12E-7997-D291-C5E9-8B4227F54840}"/>
              </a:ext>
            </a:extLst>
          </p:cNvPr>
          <p:cNvPicPr>
            <a:picLocks noChangeAspect="1"/>
          </p:cNvPicPr>
          <p:nvPr/>
        </p:nvPicPr>
        <p:blipFill>
          <a:blip>
            <a:extLst>
              <a:ext uri="{96DAC541-7B7A-43D3-8B79-37D633B846F1}">
                <asvg:svgBlip xmlns:asvg="http://schemas.microsoft.com/office/drawing/2016/SVG/main" r:embed="rId2"/>
              </a:ext>
            </a:extLst>
          </a:blip>
          <a:srcRect t="7100" b="17895"/>
          <a:stretch>
            <a:fillRect/>
          </a:stretch>
        </p:blipFill>
        <p:spPr>
          <a:xfrm>
            <a:off x="227013" y="795851"/>
            <a:ext cx="12372975" cy="5029579"/>
          </a:xfrm>
          <a:prstGeom prst="rect">
            <a:avLst/>
          </a:prstGeom>
        </p:spPr>
      </p:pic>
      <p:sp>
        <p:nvSpPr>
          <p:cNvPr id="6" name="Title 10">
            <a:extLst>
              <a:ext uri="{FF2B5EF4-FFF2-40B4-BE49-F238E27FC236}">
                <a16:creationId xmlns:a16="http://schemas.microsoft.com/office/drawing/2014/main" id="{12576F57-3B64-7D75-B528-78265C97D7A1}"/>
              </a:ext>
            </a:extLst>
          </p:cNvPr>
          <p:cNvSpPr>
            <a:spLocks noGrp="1"/>
          </p:cNvSpPr>
          <p:nvPr>
            <p:ph type="title"/>
          </p:nvPr>
        </p:nvSpPr>
        <p:spPr>
          <a:xfrm>
            <a:off x="866249" y="2391"/>
            <a:ext cx="10867490" cy="583936"/>
          </a:xfrm>
        </p:spPr>
        <p:txBody>
          <a:bodyPr>
            <a:normAutofit/>
          </a:bodyPr>
          <a:lstStyle/>
          <a:p>
            <a:r>
              <a:rPr lang="en-CA" sz="2400" b="1" dirty="0">
                <a:latin typeface="Arial" panose="020B0604020202020204" pitchFamily="34" charset="0"/>
                <a:cs typeface="Arial" panose="020B0604020202020204" pitchFamily="34" charset="0"/>
              </a:rPr>
              <a:t>Slide 2 Module-level differences between lower and higher SIS3</a:t>
            </a:r>
          </a:p>
        </p:txBody>
      </p:sp>
      <p:sp>
        <p:nvSpPr>
          <p:cNvPr id="10" name="TextBox 9">
            <a:extLst>
              <a:ext uri="{FF2B5EF4-FFF2-40B4-BE49-F238E27FC236}">
                <a16:creationId xmlns:a16="http://schemas.microsoft.com/office/drawing/2014/main" id="{772E0276-51BB-DC10-7AA8-B6C431297CBE}"/>
              </a:ext>
            </a:extLst>
          </p:cNvPr>
          <p:cNvSpPr txBox="1"/>
          <p:nvPr/>
        </p:nvSpPr>
        <p:spPr>
          <a:xfrm>
            <a:off x="866249" y="5825430"/>
            <a:ext cx="10281609" cy="88915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Each protein is assigned to one or more literature-aligned biological modules.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Biological-module values were calculated as the mean of z-standardized protein NPX values assigned to each biological module.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Positive values indicate higher standardized values and negative values indicate lower standardized values relative to the study cohort mean. </a:t>
            </a:r>
          </a:p>
        </p:txBody>
      </p:sp>
      <p:sp>
        <p:nvSpPr>
          <p:cNvPr id="12" name="TextBox 11">
            <a:extLst>
              <a:ext uri="{FF2B5EF4-FFF2-40B4-BE49-F238E27FC236}">
                <a16:creationId xmlns:a16="http://schemas.microsoft.com/office/drawing/2014/main" id="{02F0085C-F53E-DBEC-BCAD-53BB1A6AEDEC}"/>
              </a:ext>
            </a:extLst>
          </p:cNvPr>
          <p:cNvSpPr txBox="1"/>
          <p:nvPr/>
        </p:nvSpPr>
        <p:spPr>
          <a:xfrm>
            <a:off x="5917758" y="2496616"/>
            <a:ext cx="6301408" cy="1200329"/>
          </a:xfrm>
          <a:prstGeom prst="rect">
            <a:avLst/>
          </a:prstGeom>
          <a:noFill/>
        </p:spPr>
        <p:txBody>
          <a:bodyPr wrap="square">
            <a:spAutoFit/>
          </a:bodyPr>
          <a:lstStyle/>
          <a:p>
            <a:r>
              <a:rPr lang="en-CA" dirty="0"/>
              <a:t>Lower SIS3 is associated with a more polarized biological-module profile, suggesting imbalance between stress-response activation and repair/neurovascular-remodeling biology.</a:t>
            </a:r>
          </a:p>
        </p:txBody>
      </p:sp>
    </p:spTree>
    <p:extLst>
      <p:ext uri="{BB962C8B-B14F-4D97-AF65-F5344CB8AC3E}">
        <p14:creationId xmlns:p14="http://schemas.microsoft.com/office/powerpoint/2010/main" val="3275798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B7633-4166-B65B-C5A9-A1F01C10E530}"/>
            </a:ext>
          </a:extLst>
        </p:cNvPr>
        <p:cNvGrpSpPr/>
        <p:nvPr/>
      </p:nvGrpSpPr>
      <p:grpSpPr>
        <a:xfrm>
          <a:off x="0" y="0"/>
          <a:ext cx="0" cy="0"/>
          <a:chOff x="0" y="0"/>
          <a:chExt cx="0" cy="0"/>
        </a:xfrm>
      </p:grpSpPr>
      <p:pic>
        <p:nvPicPr>
          <p:cNvPr id="17" name="Graphic 16">
            <a:extLst>
              <a:ext uri="{FF2B5EF4-FFF2-40B4-BE49-F238E27FC236}">
                <a16:creationId xmlns:a16="http://schemas.microsoft.com/office/drawing/2014/main" id="{142E4A9F-6D8C-EF79-9DD9-29405B9C17E1}"/>
              </a:ext>
            </a:extLst>
          </p:cNvPr>
          <p:cNvPicPr>
            <a:picLocks noChangeAspect="1"/>
          </p:cNvPicPr>
          <p:nvPr/>
        </p:nvPicPr>
        <p:blipFill>
          <a:blip>
            <a:extLst>
              <a:ext uri="{96DAC541-7B7A-43D3-8B79-37D633B846F1}">
                <asvg:svgBlip xmlns:asvg="http://schemas.microsoft.com/office/drawing/2016/SVG/main" r:embed="rId3"/>
              </a:ext>
            </a:extLst>
          </a:blip>
          <a:srcRect t="5419" b="8778"/>
          <a:stretch>
            <a:fillRect/>
          </a:stretch>
        </p:blipFill>
        <p:spPr>
          <a:xfrm>
            <a:off x="116461" y="64764"/>
            <a:ext cx="12158853" cy="5691983"/>
          </a:xfrm>
          <a:prstGeom prst="rect">
            <a:avLst/>
          </a:prstGeom>
        </p:spPr>
      </p:pic>
      <p:sp>
        <p:nvSpPr>
          <p:cNvPr id="5" name="TextBox 4">
            <a:extLst>
              <a:ext uri="{FF2B5EF4-FFF2-40B4-BE49-F238E27FC236}">
                <a16:creationId xmlns:a16="http://schemas.microsoft.com/office/drawing/2014/main" id="{95DCDD12-7772-62FF-A27A-FCA4CFE44AB7}"/>
              </a:ext>
            </a:extLst>
          </p:cNvPr>
          <p:cNvSpPr txBox="1"/>
          <p:nvPr/>
        </p:nvSpPr>
        <p:spPr>
          <a:xfrm>
            <a:off x="434339" y="5756747"/>
            <a:ext cx="11523098" cy="1166153"/>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Positive values indicate higher biological-module values in lower-SIS3 patients.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 value: Use two-sided Mann–Whitney U test for each module comparing lower- and higher-SIS3 groups.</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95% CI: Use bootstrap confidence intervals for the group difference.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FDR q values were calculated across the 12 biological modules.</a:t>
            </a:r>
          </a:p>
        </p:txBody>
      </p:sp>
    </p:spTree>
    <p:extLst>
      <p:ext uri="{BB962C8B-B14F-4D97-AF65-F5344CB8AC3E}">
        <p14:creationId xmlns:p14="http://schemas.microsoft.com/office/powerpoint/2010/main" val="1215484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2F8DF0E-D81F-E4D5-301D-16AF70988C1C}"/>
              </a:ext>
            </a:extLst>
          </p:cNvPr>
          <p:cNvSpPr txBox="1"/>
          <p:nvPr/>
        </p:nvSpPr>
        <p:spPr>
          <a:xfrm>
            <a:off x="5576692" y="2653067"/>
            <a:ext cx="1446609" cy="223779"/>
          </a:xfrm>
          <a:prstGeom prst="rect">
            <a:avLst/>
          </a:prstGeom>
          <a:noFill/>
        </p:spPr>
        <p:txBody>
          <a:bodyPr wrap="square">
            <a:spAutoFit/>
          </a:bodyPr>
          <a:lstStyle/>
          <a:p>
            <a:r>
              <a:rPr lang="en-CA" sz="427" dirty="0"/>
              <a:t>Distribution of SIS3 mood scores across time since stroke</a:t>
            </a:r>
          </a:p>
        </p:txBody>
      </p:sp>
      <p:sp>
        <p:nvSpPr>
          <p:cNvPr id="14" name="TextBox 13">
            <a:extLst>
              <a:ext uri="{FF2B5EF4-FFF2-40B4-BE49-F238E27FC236}">
                <a16:creationId xmlns:a16="http://schemas.microsoft.com/office/drawing/2014/main" id="{0CDBFA79-6909-F8AC-11A1-23098C883BDD}"/>
              </a:ext>
            </a:extLst>
          </p:cNvPr>
          <p:cNvSpPr txBox="1"/>
          <p:nvPr/>
        </p:nvSpPr>
        <p:spPr>
          <a:xfrm>
            <a:off x="5018447" y="3761905"/>
            <a:ext cx="2505602" cy="333168"/>
          </a:xfrm>
          <a:prstGeom prst="rect">
            <a:avLst/>
          </a:prstGeom>
          <a:noFill/>
        </p:spPr>
        <p:txBody>
          <a:bodyPr wrap="square">
            <a:spAutoFit/>
          </a:bodyPr>
          <a:lstStyle/>
          <a:p>
            <a:r>
              <a:rPr lang="en-CA" sz="261" dirty="0"/>
              <a:t>Patients were grouped by time since stroke and split into lower SIS3 (≤63) and higher SIS3 (&gt;63). The proportion of lower-SIS3 patients increased across later time bins. </a:t>
            </a:r>
          </a:p>
          <a:p>
            <a:endParaRPr lang="en-CA" sz="261" dirty="0"/>
          </a:p>
          <a:p>
            <a:r>
              <a:rPr lang="en-CA" sz="261" dirty="0"/>
              <a:t>Violin plots show that lower-SIS3 patients, especially beyond 3 years, had lower average SIS3 scores and greater variability, whereas higher-SIS3 patients remained clustered above SIS3 threshold. These patterns suggest that post-stroke mood impairment may reflect a heterogeneous phenotype at late-stage, motivating the next step of testing whether distinct biological module profiles underlie lower versus higher SIS3 groups.</a:t>
            </a:r>
          </a:p>
        </p:txBody>
      </p:sp>
      <p:pic>
        <p:nvPicPr>
          <p:cNvPr id="18" name="Graphic 17">
            <a:extLst>
              <a:ext uri="{FF2B5EF4-FFF2-40B4-BE49-F238E27FC236}">
                <a16:creationId xmlns:a16="http://schemas.microsoft.com/office/drawing/2014/main" id="{53E48621-C7FE-BC39-933E-A088AB4A3941}"/>
              </a:ext>
            </a:extLst>
          </p:cNvPr>
          <p:cNvPicPr>
            <a:picLocks noChangeAspect="1"/>
          </p:cNvPicPr>
          <p:nvPr/>
        </p:nvPicPr>
        <p:blipFill>
          <a:blip>
            <a:extLst>
              <a:ext uri="{96DAC541-7B7A-43D3-8B79-37D633B846F1}">
                <asvg:svgBlip xmlns:asvg="http://schemas.microsoft.com/office/drawing/2016/SVG/main" r:embed="rId3"/>
              </a:ext>
            </a:extLst>
          </a:blip>
          <a:srcRect t="6988" b="19795"/>
          <a:stretch>
            <a:fillRect/>
          </a:stretch>
        </p:blipFill>
        <p:spPr>
          <a:xfrm>
            <a:off x="0" y="773723"/>
            <a:ext cx="12525375" cy="4798034"/>
          </a:xfrm>
          <a:prstGeom prst="rect">
            <a:avLst/>
          </a:prstGeom>
        </p:spPr>
      </p:pic>
      <p:sp>
        <p:nvSpPr>
          <p:cNvPr id="2" name="Title 10">
            <a:extLst>
              <a:ext uri="{FF2B5EF4-FFF2-40B4-BE49-F238E27FC236}">
                <a16:creationId xmlns:a16="http://schemas.microsoft.com/office/drawing/2014/main" id="{3326DBE2-FFD0-4A05-6159-095759480097}"/>
              </a:ext>
            </a:extLst>
          </p:cNvPr>
          <p:cNvSpPr txBox="1">
            <a:spLocks/>
          </p:cNvSpPr>
          <p:nvPr/>
        </p:nvSpPr>
        <p:spPr>
          <a:xfrm>
            <a:off x="866248" y="67953"/>
            <a:ext cx="10867490" cy="583936"/>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2500" b="1" dirty="0">
                <a:latin typeface="Arial" panose="020B0604020202020204" pitchFamily="34" charset="0"/>
                <a:cs typeface="Arial" panose="020B0604020202020204" pitchFamily="34" charset="0"/>
              </a:rPr>
              <a:t>Slide 3 SIS3 distribution across time since stroke</a:t>
            </a:r>
          </a:p>
        </p:txBody>
      </p:sp>
      <p:sp>
        <p:nvSpPr>
          <p:cNvPr id="4" name="TextBox 3">
            <a:extLst>
              <a:ext uri="{FF2B5EF4-FFF2-40B4-BE49-F238E27FC236}">
                <a16:creationId xmlns:a16="http://schemas.microsoft.com/office/drawing/2014/main" id="{8A0ADA38-B1CE-31F9-C222-0D46F2CBD0BF}"/>
              </a:ext>
            </a:extLst>
          </p:cNvPr>
          <p:cNvSpPr txBox="1"/>
          <p:nvPr/>
        </p:nvSpPr>
        <p:spPr>
          <a:xfrm>
            <a:off x="3142753" y="2981898"/>
            <a:ext cx="6317310" cy="1200329"/>
          </a:xfrm>
          <a:prstGeom prst="rect">
            <a:avLst/>
          </a:prstGeom>
          <a:noFill/>
        </p:spPr>
        <p:txBody>
          <a:bodyPr wrap="square">
            <a:spAutoFit/>
          </a:bodyPr>
          <a:lstStyle/>
          <a:p>
            <a:r>
              <a:rPr lang="en-CA" dirty="0"/>
              <a:t>Lower SIS3 becomes more common in later post-stroke time windows, supporting the need to evaluate whether mood/emotional vulnerability has time-dependent biological correlates.</a:t>
            </a:r>
          </a:p>
        </p:txBody>
      </p:sp>
    </p:spTree>
    <p:extLst>
      <p:ext uri="{BB962C8B-B14F-4D97-AF65-F5344CB8AC3E}">
        <p14:creationId xmlns:p14="http://schemas.microsoft.com/office/powerpoint/2010/main" val="421269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65AFF037-AA5F-9A13-BB20-C1B5AEFA3215}"/>
              </a:ext>
            </a:extLst>
          </p:cNvPr>
          <p:cNvPicPr>
            <a:picLocks noChangeAspect="1"/>
          </p:cNvPicPr>
          <p:nvPr/>
        </p:nvPicPr>
        <p:blipFill>
          <a:blip>
            <a:extLst>
              <a:ext uri="{96DAC541-7B7A-43D3-8B79-37D633B846F1}">
                <asvg:svgBlip xmlns:asvg="http://schemas.microsoft.com/office/drawing/2016/SVG/main" r:embed="rId2"/>
              </a:ext>
            </a:extLst>
          </a:blip>
          <a:srcRect t="4419" b="18689"/>
          <a:stretch>
            <a:fillRect/>
          </a:stretch>
        </p:blipFill>
        <p:spPr>
          <a:xfrm>
            <a:off x="0" y="800543"/>
            <a:ext cx="12575858" cy="4798646"/>
          </a:xfrm>
          <a:prstGeom prst="rect">
            <a:avLst/>
          </a:prstGeom>
        </p:spPr>
      </p:pic>
      <p:sp>
        <p:nvSpPr>
          <p:cNvPr id="3" name="Title 10">
            <a:extLst>
              <a:ext uri="{FF2B5EF4-FFF2-40B4-BE49-F238E27FC236}">
                <a16:creationId xmlns:a16="http://schemas.microsoft.com/office/drawing/2014/main" id="{A840CFCC-D112-0F9A-A6BB-5A0D994CDC9D}"/>
              </a:ext>
            </a:extLst>
          </p:cNvPr>
          <p:cNvSpPr txBox="1">
            <a:spLocks/>
          </p:cNvSpPr>
          <p:nvPr/>
        </p:nvSpPr>
        <p:spPr>
          <a:xfrm>
            <a:off x="866249" y="2391"/>
            <a:ext cx="10867490" cy="583936"/>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2500" b="1" dirty="0">
                <a:latin typeface="Arial" panose="020B0604020202020204" pitchFamily="34" charset="0"/>
                <a:cs typeface="Arial" panose="020B0604020202020204" pitchFamily="34" charset="0"/>
              </a:rPr>
              <a:t>Slide 4 Time-stratified module pattern in lower SIS3</a:t>
            </a:r>
          </a:p>
        </p:txBody>
      </p:sp>
      <p:sp>
        <p:nvSpPr>
          <p:cNvPr id="7" name="TextBox 6">
            <a:extLst>
              <a:ext uri="{FF2B5EF4-FFF2-40B4-BE49-F238E27FC236}">
                <a16:creationId xmlns:a16="http://schemas.microsoft.com/office/drawing/2014/main" id="{B01A7781-5D6C-6D82-D967-805686B6B600}"/>
              </a:ext>
            </a:extLst>
          </p:cNvPr>
          <p:cNvSpPr txBox="1"/>
          <p:nvPr/>
        </p:nvSpPr>
        <p:spPr>
          <a:xfrm>
            <a:off x="532737" y="5665153"/>
            <a:ext cx="10614992" cy="61215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Bars show mean standardized biological-module values within 0–1 year, 1–3 years, and more than 3 years after stroke.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Positive values indicate higher values and negative values indicate lower values relative to the cohort mean.</a:t>
            </a:r>
          </a:p>
        </p:txBody>
      </p:sp>
      <p:sp>
        <p:nvSpPr>
          <p:cNvPr id="9" name="TextBox 8">
            <a:extLst>
              <a:ext uri="{FF2B5EF4-FFF2-40B4-BE49-F238E27FC236}">
                <a16:creationId xmlns:a16="http://schemas.microsoft.com/office/drawing/2014/main" id="{1FA94960-77BB-DF71-9872-9742DDC15037}"/>
              </a:ext>
            </a:extLst>
          </p:cNvPr>
          <p:cNvSpPr txBox="1"/>
          <p:nvPr/>
        </p:nvSpPr>
        <p:spPr>
          <a:xfrm>
            <a:off x="3150704" y="2787091"/>
            <a:ext cx="6301408" cy="1200329"/>
          </a:xfrm>
          <a:prstGeom prst="rect">
            <a:avLst/>
          </a:prstGeom>
          <a:noFill/>
        </p:spPr>
        <p:txBody>
          <a:bodyPr wrap="square">
            <a:spAutoFit/>
          </a:bodyPr>
          <a:lstStyle/>
          <a:p>
            <a:r>
              <a:rPr lang="en-CA" dirty="0"/>
              <a:t>Cross-sectional time-stratified analysis suggests that lower SIS3 is associated with a time-dependent shift toward higher stress-related signals and lower repair/neurovascular-remodeling signals.</a:t>
            </a:r>
          </a:p>
        </p:txBody>
      </p:sp>
    </p:spTree>
    <p:extLst>
      <p:ext uri="{BB962C8B-B14F-4D97-AF65-F5344CB8AC3E}">
        <p14:creationId xmlns:p14="http://schemas.microsoft.com/office/powerpoint/2010/main" val="1458557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3E41A-A88E-82F5-05E9-001A8B151AD8}"/>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0076AEFF-9AB6-2A04-77D6-9F965D15F45C}"/>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FFD11B07-0457-B4FA-40BB-D377DCECD6A9}"/>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8" name="Graphic 27">
            <a:extLst>
              <a:ext uri="{FF2B5EF4-FFF2-40B4-BE49-F238E27FC236}">
                <a16:creationId xmlns:a16="http://schemas.microsoft.com/office/drawing/2014/main" id="{D021C6EA-92FE-36DE-65DF-08E392BD8A84}"/>
              </a:ext>
            </a:extLst>
          </p:cNvPr>
          <p:cNvPicPr>
            <a:picLocks noChangeAspect="1"/>
          </p:cNvPicPr>
          <p:nvPr/>
        </p:nvPicPr>
        <p:blipFill>
          <a:blip>
            <a:extLst>
              <a:ext uri="{96DAC541-7B7A-43D3-8B79-37D633B846F1}">
                <asvg:svgBlip xmlns:asvg="http://schemas.microsoft.com/office/drawing/2016/SVG/main" r:embed="rId2"/>
              </a:ext>
            </a:extLst>
          </a:blip>
          <a:srcRect t="4071" b="16368"/>
          <a:stretch>
            <a:fillRect/>
          </a:stretch>
        </p:blipFill>
        <p:spPr>
          <a:xfrm>
            <a:off x="0" y="387552"/>
            <a:ext cx="12605099" cy="3254960"/>
          </a:xfrm>
          <a:prstGeom prst="rect">
            <a:avLst/>
          </a:prstGeom>
        </p:spPr>
      </p:pic>
      <p:sp>
        <p:nvSpPr>
          <p:cNvPr id="5" name="TextBox 4">
            <a:extLst>
              <a:ext uri="{FF2B5EF4-FFF2-40B4-BE49-F238E27FC236}">
                <a16:creationId xmlns:a16="http://schemas.microsoft.com/office/drawing/2014/main" id="{B08634BA-847B-CF09-D766-222E4434C14E}"/>
              </a:ext>
            </a:extLst>
          </p:cNvPr>
          <p:cNvSpPr txBox="1"/>
          <p:nvPr/>
        </p:nvSpPr>
        <p:spPr>
          <a:xfrm>
            <a:off x="681892" y="4930720"/>
            <a:ext cx="9353061" cy="1166153"/>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Forest plots show pairwise time-bin comparisons of standardized biological-module values within lower SIS3 group.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The 3 contrasts are more than 3 years minus 0–1 year, more than 3 years minus 1–3 years, and 1–3 years minus 0–1 year.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Positive values indicate higher standardized biological-module values in the later time bin.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Error bars indicate bootstrap 95% CIs, and P values were estimated by bootstrap resampling.</a:t>
            </a:r>
          </a:p>
        </p:txBody>
      </p:sp>
    </p:spTree>
    <p:extLst>
      <p:ext uri="{BB962C8B-B14F-4D97-AF65-F5344CB8AC3E}">
        <p14:creationId xmlns:p14="http://schemas.microsoft.com/office/powerpoint/2010/main" val="2794748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A1C21-1483-A2AE-CC41-7CE809402471}"/>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A85B5BBC-57F7-0F12-DC35-37D50AD174F1}"/>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EF29932C-6685-CC6A-3DD2-E0AEB352D2EA}"/>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6" name="Graphic 25">
            <a:extLst>
              <a:ext uri="{FF2B5EF4-FFF2-40B4-BE49-F238E27FC236}">
                <a16:creationId xmlns:a16="http://schemas.microsoft.com/office/drawing/2014/main" id="{9A6156D7-BF66-541B-8089-A61F5002BFC0}"/>
              </a:ext>
            </a:extLst>
          </p:cNvPr>
          <p:cNvPicPr>
            <a:picLocks noChangeAspect="1"/>
          </p:cNvPicPr>
          <p:nvPr/>
        </p:nvPicPr>
        <p:blipFill>
          <a:blip>
            <a:extLst>
              <a:ext uri="{96DAC541-7B7A-43D3-8B79-37D633B846F1}">
                <asvg:svgBlip xmlns:asvg="http://schemas.microsoft.com/office/drawing/2016/SVG/main" r:embed="rId2"/>
              </a:ext>
            </a:extLst>
          </a:blip>
          <a:srcRect t="4448" b="17033"/>
          <a:stretch>
            <a:fillRect/>
          </a:stretch>
        </p:blipFill>
        <p:spPr>
          <a:xfrm>
            <a:off x="24130" y="758092"/>
            <a:ext cx="12575858" cy="4900246"/>
          </a:xfrm>
          <a:prstGeom prst="rect">
            <a:avLst/>
          </a:prstGeom>
        </p:spPr>
      </p:pic>
      <p:sp>
        <p:nvSpPr>
          <p:cNvPr id="3" name="Title 10">
            <a:extLst>
              <a:ext uri="{FF2B5EF4-FFF2-40B4-BE49-F238E27FC236}">
                <a16:creationId xmlns:a16="http://schemas.microsoft.com/office/drawing/2014/main" id="{C5D947E6-A7EC-F37B-695A-4048C6D9B1ED}"/>
              </a:ext>
            </a:extLst>
          </p:cNvPr>
          <p:cNvSpPr txBox="1">
            <a:spLocks/>
          </p:cNvSpPr>
          <p:nvPr/>
        </p:nvSpPr>
        <p:spPr>
          <a:xfrm>
            <a:off x="866249" y="2391"/>
            <a:ext cx="10867490" cy="583936"/>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2500" b="1" dirty="0">
                <a:latin typeface="Arial" panose="020B0604020202020204" pitchFamily="34" charset="0"/>
                <a:cs typeface="Arial" panose="020B0604020202020204" pitchFamily="34" charset="0"/>
              </a:rPr>
              <a:t>Slide 5 Time-stratified module pattern in higher SIS3</a:t>
            </a:r>
          </a:p>
        </p:txBody>
      </p:sp>
      <p:sp>
        <p:nvSpPr>
          <p:cNvPr id="5" name="TextBox 4">
            <a:extLst>
              <a:ext uri="{FF2B5EF4-FFF2-40B4-BE49-F238E27FC236}">
                <a16:creationId xmlns:a16="http://schemas.microsoft.com/office/drawing/2014/main" id="{47E66642-F812-776B-F9CE-B880C162AE33}"/>
              </a:ext>
            </a:extLst>
          </p:cNvPr>
          <p:cNvSpPr txBox="1"/>
          <p:nvPr/>
        </p:nvSpPr>
        <p:spPr>
          <a:xfrm>
            <a:off x="2668548" y="5593528"/>
            <a:ext cx="6299200" cy="646331"/>
          </a:xfrm>
          <a:prstGeom prst="rect">
            <a:avLst/>
          </a:prstGeom>
          <a:noFill/>
        </p:spPr>
        <p:txBody>
          <a:bodyPr wrap="square">
            <a:spAutoFit/>
          </a:bodyPr>
          <a:lstStyle/>
          <a:p>
            <a:r>
              <a:rPr lang="en-CA" dirty="0"/>
              <a:t>Cross-sectional time-stratified analysis suggests that higher SIS3 smaller shifts and remained closer to the cohort average.</a:t>
            </a:r>
          </a:p>
        </p:txBody>
      </p:sp>
    </p:spTree>
    <p:extLst>
      <p:ext uri="{BB962C8B-B14F-4D97-AF65-F5344CB8AC3E}">
        <p14:creationId xmlns:p14="http://schemas.microsoft.com/office/powerpoint/2010/main" val="2247375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D0F91-A5F6-05CC-71BD-9A07DDF148EF}"/>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AB985F0E-A6B6-B116-577A-4C1D60F9CD7A}"/>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7524D566-9462-64D2-01DD-F37CA59EB6D4}"/>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4" name="Graphic 23">
            <a:extLst>
              <a:ext uri="{FF2B5EF4-FFF2-40B4-BE49-F238E27FC236}">
                <a16:creationId xmlns:a16="http://schemas.microsoft.com/office/drawing/2014/main" id="{F40C76B1-7BD2-F33A-356E-BF2D0B629495}"/>
              </a:ext>
            </a:extLst>
          </p:cNvPr>
          <p:cNvPicPr>
            <a:picLocks noChangeAspect="1"/>
          </p:cNvPicPr>
          <p:nvPr/>
        </p:nvPicPr>
        <p:blipFill>
          <a:blip>
            <a:extLst>
              <a:ext uri="{96DAC541-7B7A-43D3-8B79-37D633B846F1}">
                <asvg:svgBlip xmlns:asvg="http://schemas.microsoft.com/office/drawing/2016/SVG/main" r:embed="rId2"/>
              </a:ext>
            </a:extLst>
          </a:blip>
          <a:srcRect t="3969" b="15225"/>
          <a:stretch>
            <a:fillRect/>
          </a:stretch>
        </p:blipFill>
        <p:spPr>
          <a:xfrm>
            <a:off x="0" y="433194"/>
            <a:ext cx="12605099" cy="3305907"/>
          </a:xfrm>
          <a:prstGeom prst="rect">
            <a:avLst/>
          </a:prstGeom>
        </p:spPr>
      </p:pic>
      <p:sp>
        <p:nvSpPr>
          <p:cNvPr id="7" name="TextBox 6">
            <a:extLst>
              <a:ext uri="{FF2B5EF4-FFF2-40B4-BE49-F238E27FC236}">
                <a16:creationId xmlns:a16="http://schemas.microsoft.com/office/drawing/2014/main" id="{9F0AFCB9-5A72-9067-B950-FB09FE689831}"/>
              </a:ext>
            </a:extLst>
          </p:cNvPr>
          <p:cNvSpPr txBox="1"/>
          <p:nvPr/>
        </p:nvSpPr>
        <p:spPr>
          <a:xfrm>
            <a:off x="681892" y="4930720"/>
            <a:ext cx="9353061" cy="1166153"/>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Forest plots show pairwise time-bin comparisons of standardized biological-module values within lower SIS3 group.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The 3 contrasts are more than 3 years minus 0–1 year, more than 3 years minus 1–3 years, and 1–3 years minus 0–1 year.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Positive values indicate higher standardized biological-module values in the later time bin.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Error bars indicate bootstrap 95% CIs, and P values were estimated by bootstrap resampling.</a:t>
            </a:r>
          </a:p>
        </p:txBody>
      </p:sp>
    </p:spTree>
    <p:extLst>
      <p:ext uri="{BB962C8B-B14F-4D97-AF65-F5344CB8AC3E}">
        <p14:creationId xmlns:p14="http://schemas.microsoft.com/office/powerpoint/2010/main" val="978908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305766-1E30-9FE7-84EE-1EFB60801EE0}"/>
              </a:ext>
            </a:extLst>
          </p:cNvPr>
          <p:cNvPicPr>
            <a:picLocks noChangeAspect="1"/>
          </p:cNvPicPr>
          <p:nvPr/>
        </p:nvPicPr>
        <p:blipFill>
          <a:blip>
            <a:extLst>
              <a:ext uri="{96DAC541-7B7A-43D3-8B79-37D633B846F1}">
                <asvg:svgBlip xmlns:asvg="http://schemas.microsoft.com/office/drawing/2016/SVG/main" r:embed="rId2"/>
              </a:ext>
            </a:extLst>
          </a:blip>
          <a:srcRect t="6365" b="23625"/>
          <a:stretch>
            <a:fillRect/>
          </a:stretch>
        </p:blipFill>
        <p:spPr>
          <a:xfrm>
            <a:off x="92710" y="661228"/>
            <a:ext cx="12507278" cy="3294862"/>
          </a:xfrm>
          <a:prstGeom prst="rect">
            <a:avLst/>
          </a:prstGeom>
        </p:spPr>
      </p:pic>
      <p:sp>
        <p:nvSpPr>
          <p:cNvPr id="8" name="TextBox 7">
            <a:extLst>
              <a:ext uri="{FF2B5EF4-FFF2-40B4-BE49-F238E27FC236}">
                <a16:creationId xmlns:a16="http://schemas.microsoft.com/office/drawing/2014/main" id="{F75FF477-360F-CB9C-1BBF-2DA97CE73EC1}"/>
              </a:ext>
            </a:extLst>
          </p:cNvPr>
          <p:cNvSpPr txBox="1"/>
          <p:nvPr/>
        </p:nvSpPr>
        <p:spPr>
          <a:xfrm>
            <a:off x="776087" y="4872190"/>
            <a:ext cx="11318582" cy="172015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Stress-response activation included monoamine/kynurenine metabolism, vesicle trafficking, cellular stress/</a:t>
            </a:r>
            <a:r>
              <a:rPr lang="en-CA" sz="1200" dirty="0" err="1">
                <a:latin typeface="Arial" panose="020B0604020202020204" pitchFamily="34" charset="0"/>
                <a:cs typeface="Arial" panose="020B0604020202020204" pitchFamily="34" charset="0"/>
              </a:rPr>
              <a:t>proteostasis</a:t>
            </a:r>
            <a:r>
              <a:rPr lang="en-CA" sz="1200" dirty="0">
                <a:latin typeface="Arial" panose="020B0604020202020204" pitchFamily="34" charset="0"/>
                <a:cs typeface="Arial" panose="020B0604020202020204" pitchFamily="34" charset="0"/>
              </a:rPr>
              <a:t>, and growth-survival signaling. Repair/neurovascular remodeling included complement/coagulation, endothelial/BBB, synaptic/neuroplasticity, and integrin/ECM remodeling.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Stress–repair imbalance was calculated as stress-response activation minus repair/neurovascular remodeling.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Positive mean differences indicate higher values in lower-SIS3 patients.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 value: Use two-sided Mann–Whitney U test for each module comparing lower- and higher-SIS3 groups.</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95% CI: Use bootstrap confidence intervals for the mean difference.</a:t>
            </a:r>
          </a:p>
        </p:txBody>
      </p:sp>
      <p:sp>
        <p:nvSpPr>
          <p:cNvPr id="10" name="Title 10">
            <a:extLst>
              <a:ext uri="{FF2B5EF4-FFF2-40B4-BE49-F238E27FC236}">
                <a16:creationId xmlns:a16="http://schemas.microsoft.com/office/drawing/2014/main" id="{79A2DCA5-8AAD-2951-9EFD-4F842C647160}"/>
              </a:ext>
            </a:extLst>
          </p:cNvPr>
          <p:cNvSpPr txBox="1">
            <a:spLocks/>
          </p:cNvSpPr>
          <p:nvPr/>
        </p:nvSpPr>
        <p:spPr>
          <a:xfrm>
            <a:off x="866249" y="2391"/>
            <a:ext cx="10867490" cy="583936"/>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2500" b="1" dirty="0">
                <a:latin typeface="Arial" panose="020B0604020202020204" pitchFamily="34" charset="0"/>
                <a:cs typeface="Arial" panose="020B0604020202020204" pitchFamily="34" charset="0"/>
              </a:rPr>
              <a:t>Slide 5 Stress-response, repair/remodeling, and imbalance profiles</a:t>
            </a:r>
          </a:p>
        </p:txBody>
      </p:sp>
      <p:sp>
        <p:nvSpPr>
          <p:cNvPr id="12" name="TextBox 11">
            <a:extLst>
              <a:ext uri="{FF2B5EF4-FFF2-40B4-BE49-F238E27FC236}">
                <a16:creationId xmlns:a16="http://schemas.microsoft.com/office/drawing/2014/main" id="{B2EB03D6-9B17-DBBF-8E37-4CB6350CF0AE}"/>
              </a:ext>
            </a:extLst>
          </p:cNvPr>
          <p:cNvSpPr txBox="1"/>
          <p:nvPr/>
        </p:nvSpPr>
        <p:spPr>
          <a:xfrm>
            <a:off x="2450123" y="2676212"/>
            <a:ext cx="6307014" cy="923330"/>
          </a:xfrm>
          <a:prstGeom prst="rect">
            <a:avLst/>
          </a:prstGeom>
          <a:noFill/>
        </p:spPr>
        <p:txBody>
          <a:bodyPr wrap="square">
            <a:spAutoFit/>
          </a:bodyPr>
          <a:lstStyle/>
          <a:p>
            <a:r>
              <a:rPr lang="en-CA" dirty="0"/>
              <a:t>The derived stress–repair imbalance profile separates lower- and higher-SIS3 patients more clearly than either stress-response or repair/neurovascular-remodeling profiles alone.</a:t>
            </a:r>
          </a:p>
        </p:txBody>
      </p:sp>
    </p:spTree>
    <p:extLst>
      <p:ext uri="{BB962C8B-B14F-4D97-AF65-F5344CB8AC3E}">
        <p14:creationId xmlns:p14="http://schemas.microsoft.com/office/powerpoint/2010/main" val="3519547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E757-DB51-EE7D-EE66-AF88D290B153}"/>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F4DD183D-0811-52CF-D688-59BF34036986}"/>
              </a:ext>
            </a:extLst>
          </p:cNvPr>
          <p:cNvPicPr>
            <a:picLocks noChangeAspect="1"/>
          </p:cNvPicPr>
          <p:nvPr/>
        </p:nvPicPr>
        <p:blipFill>
          <a:blip>
            <a:extLst>
              <a:ext uri="{96DAC541-7B7A-43D3-8B79-37D633B846F1}">
                <asvg:svgBlip xmlns:asvg="http://schemas.microsoft.com/office/drawing/2016/SVG/main" r:embed="rId2"/>
              </a:ext>
            </a:extLst>
          </a:blip>
          <a:srcRect t="5833" b="18678"/>
          <a:stretch>
            <a:fillRect/>
          </a:stretch>
        </p:blipFill>
        <p:spPr>
          <a:xfrm>
            <a:off x="371475" y="869543"/>
            <a:ext cx="11718608" cy="4374580"/>
          </a:xfrm>
          <a:prstGeom prst="rect">
            <a:avLst/>
          </a:prstGeom>
        </p:spPr>
      </p:pic>
      <p:sp>
        <p:nvSpPr>
          <p:cNvPr id="3" name="Title 10">
            <a:extLst>
              <a:ext uri="{FF2B5EF4-FFF2-40B4-BE49-F238E27FC236}">
                <a16:creationId xmlns:a16="http://schemas.microsoft.com/office/drawing/2014/main" id="{1442B671-8292-8214-BEF2-2C8F4E9A5960}"/>
              </a:ext>
            </a:extLst>
          </p:cNvPr>
          <p:cNvSpPr txBox="1">
            <a:spLocks/>
          </p:cNvSpPr>
          <p:nvPr/>
        </p:nvSpPr>
        <p:spPr>
          <a:xfrm>
            <a:off x="866249" y="2391"/>
            <a:ext cx="10867490" cy="583936"/>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2500" b="1" dirty="0">
                <a:latin typeface="Arial" panose="020B0604020202020204" pitchFamily="34" charset="0"/>
                <a:cs typeface="Arial" panose="020B0604020202020204" pitchFamily="34" charset="0"/>
              </a:rPr>
              <a:t>Slide 6 Profile patterns across time windows</a:t>
            </a:r>
          </a:p>
        </p:txBody>
      </p:sp>
      <p:sp>
        <p:nvSpPr>
          <p:cNvPr id="5" name="TextBox 4">
            <a:extLst>
              <a:ext uri="{FF2B5EF4-FFF2-40B4-BE49-F238E27FC236}">
                <a16:creationId xmlns:a16="http://schemas.microsoft.com/office/drawing/2014/main" id="{16FD7835-8D82-7206-727A-F8EDA6F2ED00}"/>
              </a:ext>
            </a:extLst>
          </p:cNvPr>
          <p:cNvSpPr txBox="1"/>
          <p:nvPr/>
        </p:nvSpPr>
        <p:spPr>
          <a:xfrm>
            <a:off x="2844799" y="2117441"/>
            <a:ext cx="6299200" cy="923330"/>
          </a:xfrm>
          <a:prstGeom prst="rect">
            <a:avLst/>
          </a:prstGeom>
          <a:noFill/>
        </p:spPr>
        <p:txBody>
          <a:bodyPr wrap="square">
            <a:spAutoFit/>
          </a:bodyPr>
          <a:lstStyle/>
          <a:p>
            <a:r>
              <a:rPr lang="en-CA" dirty="0"/>
              <a:t>Cross-sectional profile patterns suggest that stress–repair imbalance may vary across post-stroke time windows, especially among lower-SIS3 patients.</a:t>
            </a:r>
          </a:p>
        </p:txBody>
      </p:sp>
      <p:sp>
        <p:nvSpPr>
          <p:cNvPr id="10" name="TextBox 9">
            <a:extLst>
              <a:ext uri="{FF2B5EF4-FFF2-40B4-BE49-F238E27FC236}">
                <a16:creationId xmlns:a16="http://schemas.microsoft.com/office/drawing/2014/main" id="{11A53DE3-FA43-D0CF-8D12-259BCBE59F9A}"/>
              </a:ext>
            </a:extLst>
          </p:cNvPr>
          <p:cNvSpPr txBox="1"/>
          <p:nvPr/>
        </p:nvSpPr>
        <p:spPr>
          <a:xfrm>
            <a:off x="1705670" y="5376302"/>
            <a:ext cx="8227683" cy="61215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Points indicate mean standardized profile values. </a:t>
            </a:r>
          </a:p>
          <a:p>
            <a:pPr marL="171450" indent="-171450">
              <a:lnSpc>
                <a:spcPct val="150000"/>
              </a:lnSpc>
              <a:buFont typeface="Arial" panose="020B0604020202020204" pitchFamily="34" charset="0"/>
              <a:buChar char="•"/>
            </a:pPr>
            <a:r>
              <a:rPr lang="en-CA" sz="1200" dirty="0">
                <a:latin typeface="Arial" panose="020B0604020202020204" pitchFamily="34" charset="0"/>
                <a:cs typeface="Arial" panose="020B0604020202020204" pitchFamily="34" charset="0"/>
              </a:rPr>
              <a:t>Shaded bands indicate the interquartile range (25th–75th percentile).</a:t>
            </a:r>
          </a:p>
        </p:txBody>
      </p:sp>
      <p:sp>
        <p:nvSpPr>
          <p:cNvPr id="12" name="TextBox 11">
            <a:extLst>
              <a:ext uri="{FF2B5EF4-FFF2-40B4-BE49-F238E27FC236}">
                <a16:creationId xmlns:a16="http://schemas.microsoft.com/office/drawing/2014/main" id="{9B3EE3B6-9F76-B284-6521-C7BF88C0B47D}"/>
              </a:ext>
            </a:extLst>
          </p:cNvPr>
          <p:cNvSpPr txBox="1"/>
          <p:nvPr/>
        </p:nvSpPr>
        <p:spPr>
          <a:xfrm>
            <a:off x="3149600" y="2926304"/>
            <a:ext cx="6299200" cy="923330"/>
          </a:xfrm>
          <a:prstGeom prst="rect">
            <a:avLst/>
          </a:prstGeom>
          <a:noFill/>
        </p:spPr>
        <p:txBody>
          <a:bodyPr wrap="square">
            <a:spAutoFit/>
          </a:bodyPr>
          <a:lstStyle/>
          <a:p>
            <a:r>
              <a:rPr lang="en-CA" dirty="0"/>
              <a:t>The 1–3 year window may represent a candidate monitoring period when stress-related biological changes are emerging before more established late-stage imbalance.</a:t>
            </a:r>
          </a:p>
        </p:txBody>
      </p:sp>
    </p:spTree>
    <p:extLst>
      <p:ext uri="{BB962C8B-B14F-4D97-AF65-F5344CB8AC3E}">
        <p14:creationId xmlns:p14="http://schemas.microsoft.com/office/powerpoint/2010/main" val="2337395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3D3D-3CA3-404F-C73D-83CE6B6AC733}"/>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F6CC8C81-0F9A-20E4-3248-0C7DD8D8D44B}"/>
              </a:ext>
            </a:extLst>
          </p:cNvPr>
          <p:cNvPicPr>
            <a:picLocks noChangeAspect="1"/>
          </p:cNvPicPr>
          <p:nvPr/>
        </p:nvPicPr>
        <p:blipFill>
          <a:blip>
            <a:extLst>
              <a:ext uri="{96DAC541-7B7A-43D3-8B79-37D633B846F1}">
                <asvg:svgBlip xmlns:asvg="http://schemas.microsoft.com/office/drawing/2016/SVG/main" r:embed="rId2"/>
              </a:ext>
            </a:extLst>
          </a:blip>
          <a:srcRect t="10745" b="19701"/>
          <a:stretch>
            <a:fillRect/>
          </a:stretch>
        </p:blipFill>
        <p:spPr>
          <a:xfrm>
            <a:off x="775983" y="3446930"/>
            <a:ext cx="10994231" cy="3412945"/>
          </a:xfrm>
          <a:prstGeom prst="rect">
            <a:avLst/>
          </a:prstGeom>
        </p:spPr>
      </p:pic>
      <p:pic>
        <p:nvPicPr>
          <p:cNvPr id="4" name="Graphic 3">
            <a:extLst>
              <a:ext uri="{FF2B5EF4-FFF2-40B4-BE49-F238E27FC236}">
                <a16:creationId xmlns:a16="http://schemas.microsoft.com/office/drawing/2014/main" id="{5B829653-587D-3F0F-911E-B2D8C9313B53}"/>
              </a:ext>
            </a:extLst>
          </p:cNvPr>
          <p:cNvPicPr>
            <a:picLocks noChangeAspect="1"/>
          </p:cNvPicPr>
          <p:nvPr/>
        </p:nvPicPr>
        <p:blipFill>
          <a:blip>
            <a:extLst>
              <a:ext uri="{96DAC541-7B7A-43D3-8B79-37D633B846F1}">
                <asvg:svgBlip xmlns:asvg="http://schemas.microsoft.com/office/drawing/2016/SVG/main" r:embed="rId3"/>
              </a:ext>
            </a:extLst>
          </a:blip>
          <a:srcRect t="6346" b="21162"/>
          <a:stretch>
            <a:fillRect/>
          </a:stretch>
        </p:blipFill>
        <p:spPr>
          <a:xfrm>
            <a:off x="3500590" y="387394"/>
            <a:ext cx="5798820" cy="2955282"/>
          </a:xfrm>
          <a:prstGeom prst="rect">
            <a:avLst/>
          </a:prstGeom>
        </p:spPr>
      </p:pic>
      <p:pic>
        <p:nvPicPr>
          <p:cNvPr id="8" name="Graphic 7">
            <a:extLst>
              <a:ext uri="{FF2B5EF4-FFF2-40B4-BE49-F238E27FC236}">
                <a16:creationId xmlns:a16="http://schemas.microsoft.com/office/drawing/2014/main" id="{E7C95500-839B-E35F-7491-E2C07E802579}"/>
              </a:ext>
            </a:extLst>
          </p:cNvPr>
          <p:cNvPicPr>
            <a:picLocks noChangeAspect="1"/>
          </p:cNvPicPr>
          <p:nvPr/>
        </p:nvPicPr>
        <p:blipFill>
          <a:blip>
            <a:extLst>
              <a:ext uri="{96DAC541-7B7A-43D3-8B79-37D633B846F1}">
                <asvg:svgBlip xmlns:asvg="http://schemas.microsoft.com/office/drawing/2016/SVG/main" r:embed="rId3"/>
              </a:ext>
            </a:extLst>
          </a:blip>
          <a:srcRect l="34185" t="78430" r="38793" b="13102"/>
          <a:stretch>
            <a:fillRect/>
          </a:stretch>
        </p:blipFill>
        <p:spPr>
          <a:xfrm>
            <a:off x="6973615" y="588348"/>
            <a:ext cx="1542477" cy="339829"/>
          </a:xfrm>
          <a:prstGeom prst="rect">
            <a:avLst/>
          </a:prstGeom>
        </p:spPr>
      </p:pic>
      <p:sp>
        <p:nvSpPr>
          <p:cNvPr id="11" name="Title 10">
            <a:extLst>
              <a:ext uri="{FF2B5EF4-FFF2-40B4-BE49-F238E27FC236}">
                <a16:creationId xmlns:a16="http://schemas.microsoft.com/office/drawing/2014/main" id="{826606C6-67D6-8CF9-A00A-81C3208BACB6}"/>
              </a:ext>
            </a:extLst>
          </p:cNvPr>
          <p:cNvSpPr txBox="1">
            <a:spLocks/>
          </p:cNvSpPr>
          <p:nvPr/>
        </p:nvSpPr>
        <p:spPr>
          <a:xfrm>
            <a:off x="866249" y="2391"/>
            <a:ext cx="10867490" cy="583936"/>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2500" b="1" dirty="0">
                <a:latin typeface="Arial" panose="020B0604020202020204" pitchFamily="34" charset="0"/>
                <a:cs typeface="Arial" panose="020B0604020202020204" pitchFamily="34" charset="0"/>
              </a:rPr>
              <a:t>Slide 6 Biological heterogeneity among similar SIS3 patients</a:t>
            </a:r>
          </a:p>
        </p:txBody>
      </p:sp>
      <p:sp>
        <p:nvSpPr>
          <p:cNvPr id="13" name="TextBox 12">
            <a:extLst>
              <a:ext uri="{FF2B5EF4-FFF2-40B4-BE49-F238E27FC236}">
                <a16:creationId xmlns:a16="http://schemas.microsoft.com/office/drawing/2014/main" id="{D7A3EF88-587A-7C86-A6EF-3969C307DD28}"/>
              </a:ext>
            </a:extLst>
          </p:cNvPr>
          <p:cNvSpPr txBox="1"/>
          <p:nvPr/>
        </p:nvSpPr>
        <p:spPr>
          <a:xfrm>
            <a:off x="1742830" y="5688508"/>
            <a:ext cx="6299200" cy="923330"/>
          </a:xfrm>
          <a:prstGeom prst="rect">
            <a:avLst/>
          </a:prstGeom>
          <a:noFill/>
        </p:spPr>
        <p:txBody>
          <a:bodyPr wrap="square">
            <a:spAutoFit/>
          </a:bodyPr>
          <a:lstStyle/>
          <a:p>
            <a:r>
              <a:rPr lang="en-CA" dirty="0"/>
              <a:t>Patients with similar SIS3 values may have distinct underlying biological-module profiles, suggesting heterogeneity in post-stroke mood/emotional vulnerability.</a:t>
            </a:r>
          </a:p>
        </p:txBody>
      </p:sp>
    </p:spTree>
    <p:extLst>
      <p:ext uri="{BB962C8B-B14F-4D97-AF65-F5344CB8AC3E}">
        <p14:creationId xmlns:p14="http://schemas.microsoft.com/office/powerpoint/2010/main" val="3817662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89C4-F95A-BFB6-8C57-1C250F00C116}"/>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49F53BBE-C994-B85A-57E9-1D6DD354F0A9}"/>
              </a:ext>
            </a:extLst>
          </p:cNvPr>
          <p:cNvPicPr>
            <a:picLocks noChangeAspect="1"/>
          </p:cNvPicPr>
          <p:nvPr/>
        </p:nvPicPr>
        <p:blipFill>
          <a:blip>
            <a:extLst>
              <a:ext uri="{96DAC541-7B7A-43D3-8B79-37D633B846F1}">
                <asvg:svgBlip xmlns:asvg="http://schemas.microsoft.com/office/drawing/2016/SVG/main" r:embed="rId2"/>
              </a:ext>
            </a:extLst>
          </a:blip>
          <a:srcRect b="29577"/>
          <a:stretch>
            <a:fillRect/>
          </a:stretch>
        </p:blipFill>
        <p:spPr>
          <a:xfrm>
            <a:off x="0" y="110372"/>
            <a:ext cx="12508421" cy="3720776"/>
          </a:xfrm>
          <a:prstGeom prst="rect">
            <a:avLst/>
          </a:prstGeom>
        </p:spPr>
      </p:pic>
    </p:spTree>
    <p:extLst>
      <p:ext uri="{BB962C8B-B14F-4D97-AF65-F5344CB8AC3E}">
        <p14:creationId xmlns:p14="http://schemas.microsoft.com/office/powerpoint/2010/main" val="20635403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1606</Words>
  <Application>Microsoft Office PowerPoint</Application>
  <PresentationFormat>Custom</PresentationFormat>
  <Paragraphs>98</Paragraphs>
  <Slides>12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Slide 1 Analysis workflow</vt:lpstr>
      <vt:lpstr>Slide 2 Module-level differences between lower and higher SIS3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Gong</dc:creator>
  <cp:lastModifiedBy>Li Gong</cp:lastModifiedBy>
  <cp:revision>11</cp:revision>
  <dcterms:created xsi:type="dcterms:W3CDTF">2026-07-02T22:28:28Z</dcterms:created>
  <dcterms:modified xsi:type="dcterms:W3CDTF">2026-07-08T01:48:13Z</dcterms:modified>
</cp:coreProperties>
</file>