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6"/>
  </p:notesMasterIdLst>
  <p:sldIdLst>
    <p:sldId id="256" r:id="rId2"/>
    <p:sldId id="264" r:id="rId3"/>
    <p:sldId id="272" r:id="rId4"/>
    <p:sldId id="257" r:id="rId5"/>
    <p:sldId id="265" r:id="rId6"/>
    <p:sldId id="274" r:id="rId7"/>
    <p:sldId id="273" r:id="rId8"/>
    <p:sldId id="275" r:id="rId9"/>
    <p:sldId id="268" r:id="rId10"/>
    <p:sldId id="270" r:id="rId11"/>
    <p:sldId id="277" r:id="rId12"/>
    <p:sldId id="278" r:id="rId13"/>
    <p:sldId id="279" r:id="rId14"/>
    <p:sldId id="280" r:id="rId15"/>
  </p:sldIdLst>
  <p:sldSz cx="125999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96723" autoAdjust="0"/>
  </p:normalViewPr>
  <p:slideViewPr>
    <p:cSldViewPr snapToGrid="0">
      <p:cViewPr varScale="1">
        <p:scale>
          <a:sx n="122" d="100"/>
          <a:sy n="122" d="100"/>
        </p:scale>
        <p:origin x="27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6DA8F-FA20-443C-9D4F-90C451E0BF66}" type="datetimeFigureOut">
              <a:rPr lang="en-CA" smtClean="0"/>
              <a:t>2026-07-08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95313" y="1143000"/>
            <a:ext cx="5667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4D946-AE82-4C2E-AB3C-ECDD8392AB5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458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4D946-AE82-4C2E-AB3C-ECDD8392AB55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8395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4D946-AE82-4C2E-AB3C-ECDD8392AB55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6263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1122363"/>
            <a:ext cx="944999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3602038"/>
            <a:ext cx="944999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042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1260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1709739"/>
            <a:ext cx="1086749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4589464"/>
            <a:ext cx="1086749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0531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1825625"/>
            <a:ext cx="535499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1825625"/>
            <a:ext cx="535499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981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365126"/>
            <a:ext cx="1086749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1681163"/>
            <a:ext cx="53303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2505075"/>
            <a:ext cx="533038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1681163"/>
            <a:ext cx="53566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2505075"/>
            <a:ext cx="535663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4789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571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4632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457200"/>
            <a:ext cx="4063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987426"/>
            <a:ext cx="637874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2057400"/>
            <a:ext cx="406382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4755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457200"/>
            <a:ext cx="4063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987426"/>
            <a:ext cx="6378744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2057400"/>
            <a:ext cx="406382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3602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7290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365125"/>
            <a:ext cx="271687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365125"/>
            <a:ext cx="7993117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6098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9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365126"/>
            <a:ext cx="108674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825625"/>
            <a:ext cx="108674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6356351"/>
            <a:ext cx="2834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6AFCCF-24AE-4887-9618-F0F2E2356771}" type="datetimeFigureOut">
              <a:rPr lang="en-CA" smtClean="0"/>
              <a:t>2026-07-08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6356351"/>
            <a:ext cx="4252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6356351"/>
            <a:ext cx="2834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5724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32"/>
          <p:cNvSpPr/>
          <p:nvPr/>
        </p:nvSpPr>
        <p:spPr>
          <a:xfrm>
            <a:off x="3304309" y="614811"/>
            <a:ext cx="4251960" cy="558017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5F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 cohort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patients with SIS3 and plasma proteomic data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04309" y="2446522"/>
            <a:ext cx="4251960" cy="74554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5FB8"/>
            </a:solidFill>
          </a:ln>
        </p:spPr>
        <p:txBody>
          <a:bodyPr wrap="square" lIns="635" tIns="635" rIns="635" bIns="635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clinical strata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SIS3 (≤63) and Higher SIS3 (&gt;63)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since stroke: 0–1 y, 1–3 y, &gt;3 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04309" y="1381909"/>
            <a:ext cx="4251960" cy="86025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5FB8"/>
            </a:solidFill>
          </a:ln>
        </p:spPr>
        <p:txBody>
          <a:bodyPr wrap="square" lIns="635" tIns="635" rIns="635" bIns="635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Proteomic processing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low-detection proteins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protein values across patients</a:t>
            </a:r>
          </a:p>
        </p:txBody>
      </p:sp>
      <p:sp>
        <p:nvSpPr>
          <p:cNvPr id="37" name="Text 35"/>
          <p:cNvSpPr/>
          <p:nvPr/>
        </p:nvSpPr>
        <p:spPr>
          <a:xfrm>
            <a:off x="3304309" y="3414058"/>
            <a:ext cx="4251960" cy="733692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accent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Module-level analysis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proteins to 12 biological modules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biological-module values for each patient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04309" y="4371516"/>
            <a:ext cx="4251960" cy="991220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accent2"/>
            </a:solidFill>
          </a:ln>
        </p:spPr>
        <p:txBody>
          <a:bodyPr wrap="square" lIns="635" tIns="635" rIns="635" bIns="635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derivation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 stress–repair imbalance profile from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stress–response activation and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/ neurovascular remodeling profiles</a:t>
            </a:r>
            <a:endParaRPr lang="en-US" sz="1200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6EA09C7-B11C-D90B-2A1D-2773AA7E794F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>
            <a:off x="5430289" y="1172828"/>
            <a:ext cx="0" cy="2090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C684D5B-E2AC-71FE-472E-550DD2BC9CDF}"/>
              </a:ext>
            </a:extLst>
          </p:cNvPr>
          <p:cNvCxnSpPr/>
          <p:nvPr/>
        </p:nvCxnSpPr>
        <p:spPr>
          <a:xfrm>
            <a:off x="5449632" y="2250435"/>
            <a:ext cx="0" cy="203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3AF242B-C2AD-AD85-7524-2CCEDE58FC91}"/>
              </a:ext>
            </a:extLst>
          </p:cNvPr>
          <p:cNvCxnSpPr/>
          <p:nvPr/>
        </p:nvCxnSpPr>
        <p:spPr>
          <a:xfrm>
            <a:off x="5461160" y="3200019"/>
            <a:ext cx="0" cy="203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51DB54B-1660-B084-60D9-6D9AC0AB07C7}"/>
              </a:ext>
            </a:extLst>
          </p:cNvPr>
          <p:cNvCxnSpPr/>
          <p:nvPr/>
        </p:nvCxnSpPr>
        <p:spPr>
          <a:xfrm>
            <a:off x="5461160" y="4160315"/>
            <a:ext cx="0" cy="203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E2E44BC-3ED4-E9A4-4845-2DD60BB12FF4}"/>
              </a:ext>
            </a:extLst>
          </p:cNvPr>
          <p:cNvCxnSpPr/>
          <p:nvPr/>
        </p:nvCxnSpPr>
        <p:spPr>
          <a:xfrm>
            <a:off x="5461160" y="5375041"/>
            <a:ext cx="0" cy="203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F98E8C4-749E-45C1-4F51-BE31B9013C22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7556269" y="3780904"/>
            <a:ext cx="44662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37">
            <a:extLst>
              <a:ext uri="{FF2B5EF4-FFF2-40B4-BE49-F238E27FC236}">
                <a16:creationId xmlns:a16="http://schemas.microsoft.com/office/drawing/2014/main" id="{C7681A9B-187C-2E86-AF7F-781B09E10212}"/>
              </a:ext>
            </a:extLst>
          </p:cNvPr>
          <p:cNvSpPr/>
          <p:nvPr/>
        </p:nvSpPr>
        <p:spPr>
          <a:xfrm>
            <a:off x="8002889" y="3195848"/>
            <a:ext cx="4251960" cy="1291024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accent6"/>
            </a:solidFill>
          </a:ln>
        </p:spPr>
        <p:txBody>
          <a:bodyPr wrap="square" lIns="635" tIns="635" rIns="635" bIns="635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outputs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 emotion status-dependent module comparisons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(Lower vs Higher SIS3)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Cross-sectional time-stratified module comparisons 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(0–1 y, 1–3 y, and &gt;3 y)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Biological heterogeneity among patients with similar SIS3</a:t>
            </a:r>
            <a:endParaRPr lang="en-US" sz="1200" dirty="0"/>
          </a:p>
        </p:txBody>
      </p:sp>
      <p:sp>
        <p:nvSpPr>
          <p:cNvPr id="9" name="Text 37">
            <a:extLst>
              <a:ext uri="{FF2B5EF4-FFF2-40B4-BE49-F238E27FC236}">
                <a16:creationId xmlns:a16="http://schemas.microsoft.com/office/drawing/2014/main" id="{11DBDECC-471D-95C5-0845-FFC431D17675}"/>
              </a:ext>
            </a:extLst>
          </p:cNvPr>
          <p:cNvSpPr/>
          <p:nvPr/>
        </p:nvSpPr>
        <p:spPr>
          <a:xfrm>
            <a:off x="3323652" y="5593800"/>
            <a:ext cx="4251960" cy="1091367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accent6"/>
            </a:solidFill>
          </a:ln>
        </p:spPr>
        <p:txBody>
          <a:bodyPr wrap="square" lIns="635" tIns="635" rIns="635" bIns="635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outputs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 emotion status-dependent profile comparisons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(Lower vs Higher SIS3)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Cross-sectional time-stratified profile comparisons 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(0–1 y, 1–3 y, and &gt;3 y)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CAC810B-7376-D05E-4DF8-913DCBC1C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49" y="2391"/>
            <a:ext cx="10867490" cy="583936"/>
          </a:xfrm>
        </p:spPr>
        <p:txBody>
          <a:bodyPr>
            <a:normAutofit/>
          </a:bodyPr>
          <a:lstStyle/>
          <a:p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Slide 1 Preliminary analysis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CD01F12E-7997-D291-C5E9-8B4227F548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00" b="17895"/>
          <a:stretch>
            <a:fillRect/>
          </a:stretch>
        </p:blipFill>
        <p:spPr>
          <a:xfrm>
            <a:off x="526639" y="672123"/>
            <a:ext cx="11773721" cy="4785984"/>
          </a:xfrm>
          <a:prstGeom prst="rect">
            <a:avLst/>
          </a:prstGeom>
        </p:spPr>
      </p:pic>
      <p:sp>
        <p:nvSpPr>
          <p:cNvPr id="6" name="Title 10">
            <a:extLst>
              <a:ext uri="{FF2B5EF4-FFF2-40B4-BE49-F238E27FC236}">
                <a16:creationId xmlns:a16="http://schemas.microsoft.com/office/drawing/2014/main" id="{12576F57-3B64-7D75-B528-78265C97D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49" y="2391"/>
            <a:ext cx="10867490" cy="583936"/>
          </a:xfrm>
        </p:spPr>
        <p:txBody>
          <a:bodyPr>
            <a:normAutofit/>
          </a:bodyPr>
          <a:lstStyle/>
          <a:p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Slide 2 Module-level differences between lower and higher SIS3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2E0276-51BB-DC10-7AA8-B6C431297CBE}"/>
              </a:ext>
            </a:extLst>
          </p:cNvPr>
          <p:cNvSpPr txBox="1"/>
          <p:nvPr/>
        </p:nvSpPr>
        <p:spPr>
          <a:xfrm>
            <a:off x="703732" y="5602800"/>
            <a:ext cx="12122920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Lower SIS3 is associated with more polarized biological modules.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Each protein is assigned to one or more literature-aligned biological modules.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Biological-module values were calculated as the mean of z-standardized protein NPX values assigned to each biological module.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Positive values indicate higher standardized values and negative values indicate lower standardized values relative to the study cohort mean.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4184DC9-1091-834E-A285-2ABDAA7784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419" r="98146" b="18689"/>
          <a:stretch>
            <a:fillRect/>
          </a:stretch>
        </p:blipFill>
        <p:spPr>
          <a:xfrm>
            <a:off x="176586" y="392854"/>
            <a:ext cx="246083" cy="506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798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B7633-4166-B65B-C5A9-A1F01C10E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142E4A9F-6D8C-EF79-9DD9-29405B9C17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419" b="8778"/>
          <a:stretch>
            <a:fillRect/>
          </a:stretch>
        </p:blipFill>
        <p:spPr>
          <a:xfrm>
            <a:off x="523768" y="417534"/>
            <a:ext cx="11406759" cy="5339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DCDD12-7772-62FF-A27A-FCA4CFE44AB7}"/>
              </a:ext>
            </a:extLst>
          </p:cNvPr>
          <p:cNvSpPr txBox="1"/>
          <p:nvPr/>
        </p:nvSpPr>
        <p:spPr>
          <a:xfrm>
            <a:off x="465599" y="5733991"/>
            <a:ext cx="11523098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Positive values indicate higher biological-module values in lower-SIS3 patients.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 value: Use two-sided Mann–Whitney U test for each module comparing lower- and higher-SIS3 groups.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95% CI: Use bootstrap confidence intervals for the group difference.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FDR q values were calculated across the 12 biological modules.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E11AE0-E1B7-BE2A-E21D-0F391A378F84}"/>
              </a:ext>
            </a:extLst>
          </p:cNvPr>
          <p:cNvSpPr txBox="1"/>
          <p:nvPr/>
        </p:nvSpPr>
        <p:spPr>
          <a:xfrm>
            <a:off x="649940" y="0"/>
            <a:ext cx="103697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b="1" dirty="0">
                <a:latin typeface="Arial" panose="020B0604020202020204" pitchFamily="34" charset="0"/>
                <a:cs typeface="Arial" panose="020B0604020202020204" pitchFamily="34" charset="0"/>
              </a:rPr>
              <a:t>Table 1. Pairwise Comparison of Standardized Biological-Module Values Between Lower and Higher SIS3 Subgroups</a:t>
            </a:r>
          </a:p>
        </p:txBody>
      </p:sp>
    </p:spTree>
    <p:extLst>
      <p:ext uri="{BB962C8B-B14F-4D97-AF65-F5344CB8AC3E}">
        <p14:creationId xmlns:p14="http://schemas.microsoft.com/office/powerpoint/2010/main" val="121548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F8DF0E-D81F-E4D5-301D-16AF70988C1C}"/>
              </a:ext>
            </a:extLst>
          </p:cNvPr>
          <p:cNvSpPr txBox="1"/>
          <p:nvPr/>
        </p:nvSpPr>
        <p:spPr>
          <a:xfrm>
            <a:off x="5576692" y="2653067"/>
            <a:ext cx="1446609" cy="223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27" dirty="0"/>
              <a:t>Distribution of SIS3 mood scores across time since stroke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DBFA79-6909-F8AC-11A1-23098C883BDD}"/>
              </a:ext>
            </a:extLst>
          </p:cNvPr>
          <p:cNvSpPr txBox="1"/>
          <p:nvPr/>
        </p:nvSpPr>
        <p:spPr>
          <a:xfrm>
            <a:off x="5018447" y="3761905"/>
            <a:ext cx="2505602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61" dirty="0"/>
              <a:t>Patients were grouped by time since stroke and split into lower SIS3 (≤63) and higher SIS3 (&gt;63). The proportion of lower-SIS3 patients increased across later time bins. </a:t>
            </a:r>
          </a:p>
          <a:p>
            <a:endParaRPr lang="en-CA" sz="261" dirty="0"/>
          </a:p>
          <a:p>
            <a:r>
              <a:rPr lang="en-CA" sz="261" dirty="0"/>
              <a:t>Violin plots show that lower-SIS3 patients, especially beyond 3 years, had lower average SIS3 scores and greater variability, whereas higher-SIS3 patients remained clustered above SIS3 threshold. These patterns suggest that post-stroke mood impairment may reflect a heterogeneous phenotype at late-stage, motivating the next step of testing whether distinct biological module profiles underlie lower versus higher SIS3 groups.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53E48621-C7FE-BC39-933E-A088AB4A39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988" b="19795"/>
          <a:stretch>
            <a:fillRect/>
          </a:stretch>
        </p:blipFill>
        <p:spPr>
          <a:xfrm>
            <a:off x="321695" y="715973"/>
            <a:ext cx="11899106" cy="4558153"/>
          </a:xfrm>
          <a:prstGeom prst="rect">
            <a:avLst/>
          </a:prstGeom>
        </p:spPr>
      </p:pic>
      <p:sp>
        <p:nvSpPr>
          <p:cNvPr id="2" name="Title 10">
            <a:extLst>
              <a:ext uri="{FF2B5EF4-FFF2-40B4-BE49-F238E27FC236}">
                <a16:creationId xmlns:a16="http://schemas.microsoft.com/office/drawing/2014/main" id="{3326DBE2-FFD0-4A05-6159-095759480097}"/>
              </a:ext>
            </a:extLst>
          </p:cNvPr>
          <p:cNvSpPr txBox="1">
            <a:spLocks/>
          </p:cNvSpPr>
          <p:nvPr/>
        </p:nvSpPr>
        <p:spPr>
          <a:xfrm>
            <a:off x="866248" y="67953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3 SIS3 distribution across time since stroke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0ADA38-B1CE-31F9-C222-0D46F2CBD0BF}"/>
              </a:ext>
            </a:extLst>
          </p:cNvPr>
          <p:cNvSpPr txBox="1"/>
          <p:nvPr/>
        </p:nvSpPr>
        <p:spPr>
          <a:xfrm>
            <a:off x="461900" y="5865028"/>
            <a:ext cx="116761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Lower SIS3 becomes more common in later post-stroke time windows, supporting the need to evaluate time-dependent biological correlates.</a:t>
            </a:r>
          </a:p>
        </p:txBody>
      </p:sp>
    </p:spTree>
    <p:extLst>
      <p:ext uri="{BB962C8B-B14F-4D97-AF65-F5344CB8AC3E}">
        <p14:creationId xmlns:p14="http://schemas.microsoft.com/office/powerpoint/2010/main" val="4212695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65AFF037-AA5F-9A13-BB20-C1B5AEFA32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419" r="5172" b="18689"/>
          <a:stretch>
            <a:fillRect/>
          </a:stretch>
        </p:blipFill>
        <p:spPr>
          <a:xfrm>
            <a:off x="12064" y="586327"/>
            <a:ext cx="12587924" cy="5065253"/>
          </a:xfrm>
          <a:prstGeom prst="rect">
            <a:avLst/>
          </a:prstGeom>
        </p:spPr>
      </p:pic>
      <p:sp>
        <p:nvSpPr>
          <p:cNvPr id="3" name="Title 10">
            <a:extLst>
              <a:ext uri="{FF2B5EF4-FFF2-40B4-BE49-F238E27FC236}">
                <a16:creationId xmlns:a16="http://schemas.microsoft.com/office/drawing/2014/main" id="{A840CFCC-D112-0F9A-A6BB-5A0D994CDC9D}"/>
              </a:ext>
            </a:extLst>
          </p:cNvPr>
          <p:cNvSpPr txBox="1">
            <a:spLocks/>
          </p:cNvSpPr>
          <p:nvPr/>
        </p:nvSpPr>
        <p:spPr>
          <a:xfrm>
            <a:off x="866249" y="2391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4 Time-stratified module pattern in lower SIS3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A7781-5D6C-6D82-D967-805686B6B600}"/>
              </a:ext>
            </a:extLst>
          </p:cNvPr>
          <p:cNvSpPr txBox="1"/>
          <p:nvPr/>
        </p:nvSpPr>
        <p:spPr>
          <a:xfrm>
            <a:off x="154988" y="5746454"/>
            <a:ext cx="12445000" cy="612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Bars show mean standardized biological-module values within 0–1 year, 1–3 years, and more than 3 years after stroke.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Time-stratified analysis suggests that lower SIS3 is associated with a time-dependent shift toward higher stress-related signals and lower repair/neurovascular-remodeling signals.</a:t>
            </a:r>
          </a:p>
        </p:txBody>
      </p:sp>
    </p:spTree>
    <p:extLst>
      <p:ext uri="{BB962C8B-B14F-4D97-AF65-F5344CB8AC3E}">
        <p14:creationId xmlns:p14="http://schemas.microsoft.com/office/powerpoint/2010/main" val="1458557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3E41A-A88E-82F5-05E9-001A8B151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phic 27">
            <a:extLst>
              <a:ext uri="{FF2B5EF4-FFF2-40B4-BE49-F238E27FC236}">
                <a16:creationId xmlns:a16="http://schemas.microsoft.com/office/drawing/2014/main" id="{D021C6EA-92FE-36DE-65DF-08E392BD8A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071" b="16368"/>
          <a:stretch>
            <a:fillRect/>
          </a:stretch>
        </p:blipFill>
        <p:spPr>
          <a:xfrm>
            <a:off x="25885" y="689374"/>
            <a:ext cx="12605099" cy="32549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8634BA-847B-CF09-D766-222E4434C14E}"/>
              </a:ext>
            </a:extLst>
          </p:cNvPr>
          <p:cNvSpPr txBox="1"/>
          <p:nvPr/>
        </p:nvSpPr>
        <p:spPr>
          <a:xfrm>
            <a:off x="25885" y="3944334"/>
            <a:ext cx="9353061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Forest plots show pairwise time-bin comparisons of standardized biological-module values within lower SIS3 group.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The 3 contrasts are more than 3 years minus 0–1 year, more than 3 years minus 1–3 years, and 1–3 years minus 0–1 year.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Positive values indicate higher standardized biological-module values in the later time bin.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Error bars indicate bootstrap 95% CIs, and P values were estimated by bootstrap resampling.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5370F-4F0C-54B8-68BC-37CF8CF190CC}"/>
              </a:ext>
            </a:extLst>
          </p:cNvPr>
          <p:cNvSpPr txBox="1"/>
          <p:nvPr/>
        </p:nvSpPr>
        <p:spPr>
          <a:xfrm>
            <a:off x="25885" y="98612"/>
            <a:ext cx="9946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b="1" dirty="0">
                <a:latin typeface="Arial" panose="020B0604020202020204" pitchFamily="34" charset="0"/>
                <a:cs typeface="Arial" panose="020B0604020202020204" pitchFamily="34" charset="0"/>
              </a:rPr>
              <a:t>Table 2. Time-Bin Differences in Standardized Biological-Module Values Among Lower-SIS3 Patients</a:t>
            </a:r>
          </a:p>
        </p:txBody>
      </p:sp>
    </p:spTree>
    <p:extLst>
      <p:ext uri="{BB962C8B-B14F-4D97-AF65-F5344CB8AC3E}">
        <p14:creationId xmlns:p14="http://schemas.microsoft.com/office/powerpoint/2010/main" val="2794748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A1C21-1483-A2AE-CC41-7CE809402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9A6156D7-BF66-541B-8089-A61F5002BF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448" r="5081" b="17033"/>
          <a:stretch>
            <a:fillRect/>
          </a:stretch>
        </p:blipFill>
        <p:spPr>
          <a:xfrm>
            <a:off x="-1" y="656623"/>
            <a:ext cx="12599989" cy="5172431"/>
          </a:xfrm>
          <a:prstGeom prst="rect">
            <a:avLst/>
          </a:prstGeom>
        </p:spPr>
      </p:pic>
      <p:sp>
        <p:nvSpPr>
          <p:cNvPr id="3" name="Title 10">
            <a:extLst>
              <a:ext uri="{FF2B5EF4-FFF2-40B4-BE49-F238E27FC236}">
                <a16:creationId xmlns:a16="http://schemas.microsoft.com/office/drawing/2014/main" id="{C5D947E6-A7EC-F37B-695A-4048C6D9B1ED}"/>
              </a:ext>
            </a:extLst>
          </p:cNvPr>
          <p:cNvSpPr txBox="1">
            <a:spLocks/>
          </p:cNvSpPr>
          <p:nvPr/>
        </p:nvSpPr>
        <p:spPr>
          <a:xfrm>
            <a:off x="866249" y="2391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5 Time-stratified module pattern in higher SIS3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66642-F812-776B-F9CE-B880C162AE33}"/>
              </a:ext>
            </a:extLst>
          </p:cNvPr>
          <p:cNvSpPr txBox="1"/>
          <p:nvPr/>
        </p:nvSpPr>
        <p:spPr>
          <a:xfrm>
            <a:off x="473750" y="5924378"/>
            <a:ext cx="92612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Time-stratified analysis suggests that higher SIS3 smaller shifts and remained closer to the cohort average.</a:t>
            </a:r>
          </a:p>
        </p:txBody>
      </p:sp>
    </p:spTree>
    <p:extLst>
      <p:ext uri="{BB962C8B-B14F-4D97-AF65-F5344CB8AC3E}">
        <p14:creationId xmlns:p14="http://schemas.microsoft.com/office/powerpoint/2010/main" val="2247375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D0F91-A5F6-05CC-71BD-9A07DDF14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F40C76B1-7BD2-F33A-356E-BF2D0B6294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3969" b="15225"/>
          <a:stretch>
            <a:fillRect/>
          </a:stretch>
        </p:blipFill>
        <p:spPr>
          <a:xfrm>
            <a:off x="25885" y="633240"/>
            <a:ext cx="12605099" cy="33059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0AFCB9-5A72-9067-B950-FB09FE689831}"/>
              </a:ext>
            </a:extLst>
          </p:cNvPr>
          <p:cNvSpPr txBox="1"/>
          <p:nvPr/>
        </p:nvSpPr>
        <p:spPr>
          <a:xfrm>
            <a:off x="0" y="3939147"/>
            <a:ext cx="9353061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Forest plots show pairwise time-bin comparisons of standardized biological-module values within lower SIS3 group.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The 3 contrasts are more than 3 years minus 0–1 year, more than 3 years minus 1–3 years, and 1–3 years minus 0–1 year.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Positive values indicate higher standardized biological-module values in the later time bin.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Error bars indicate bootstrap 95% CIs, and P values were estimated by bootstrap resampling.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1B710-9DBE-DE77-69F5-5301907E93DA}"/>
              </a:ext>
            </a:extLst>
          </p:cNvPr>
          <p:cNvSpPr txBox="1"/>
          <p:nvPr/>
        </p:nvSpPr>
        <p:spPr>
          <a:xfrm>
            <a:off x="25885" y="98612"/>
            <a:ext cx="9946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b="1" dirty="0">
                <a:latin typeface="Arial" panose="020B0604020202020204" pitchFamily="34" charset="0"/>
                <a:cs typeface="Arial" panose="020B0604020202020204" pitchFamily="34" charset="0"/>
              </a:rPr>
              <a:t>Table 3. Time-Bin Differences in Standardized Biological-Module Values Among Higher-SIS3 Patients</a:t>
            </a:r>
          </a:p>
        </p:txBody>
      </p:sp>
    </p:spTree>
    <p:extLst>
      <p:ext uri="{BB962C8B-B14F-4D97-AF65-F5344CB8AC3E}">
        <p14:creationId xmlns:p14="http://schemas.microsoft.com/office/powerpoint/2010/main" val="978908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6305766-1E30-9FE7-84EE-1EFB60801E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365" b="23625"/>
          <a:stretch>
            <a:fillRect/>
          </a:stretch>
        </p:blipFill>
        <p:spPr>
          <a:xfrm>
            <a:off x="92710" y="744779"/>
            <a:ext cx="12507278" cy="32948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5FF477-360F-CB9C-1BBF-2DA97CE73EC1}"/>
              </a:ext>
            </a:extLst>
          </p:cNvPr>
          <p:cNvSpPr txBox="1"/>
          <p:nvPr/>
        </p:nvSpPr>
        <p:spPr>
          <a:xfrm>
            <a:off x="131627" y="4465790"/>
            <a:ext cx="12336734" cy="199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The derived stress–repair imbalance profile separates lower and higher SIS3 patients more clearly than either stress-response or repair/neurovascular-remodeling profiles alone.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Stress-response activation profile included monoamine/kynurenine metabolism, vesicle trafficking, cellular stress/</a:t>
            </a:r>
            <a:r>
              <a:rPr lang="en-CA" sz="1200" dirty="0" err="1">
                <a:latin typeface="Arial" panose="020B0604020202020204" pitchFamily="34" charset="0"/>
                <a:cs typeface="Arial" panose="020B0604020202020204" pitchFamily="34" charset="0"/>
              </a:rPr>
              <a:t>proteostasis</a:t>
            </a: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, and growth-survival signaling modules.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Repair/neurovascular remodeling profile included complement/coagulation, endothelial/BBB, synaptic/neuroplasticity, and integrin/ECM remodeling modules.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Stress–repair imbalance was calculated as stress-response activation minus repair/neurovascular remodeling.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Positive mean differences indicate higher values in lower-SIS3 patients.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 value: Use two-sided Mann–Whitney U test for each module comparing lower and higher SIS3 subgroups.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95% CI: Use bootstrap confidence intervals for the mean difference.</a:t>
            </a:r>
          </a:p>
        </p:txBody>
      </p:sp>
      <p:sp>
        <p:nvSpPr>
          <p:cNvPr id="10" name="Title 10">
            <a:extLst>
              <a:ext uri="{FF2B5EF4-FFF2-40B4-BE49-F238E27FC236}">
                <a16:creationId xmlns:a16="http://schemas.microsoft.com/office/drawing/2014/main" id="{79A2DCA5-8AAD-2951-9EFD-4F842C647160}"/>
              </a:ext>
            </a:extLst>
          </p:cNvPr>
          <p:cNvSpPr txBox="1">
            <a:spLocks/>
          </p:cNvSpPr>
          <p:nvPr/>
        </p:nvSpPr>
        <p:spPr>
          <a:xfrm>
            <a:off x="866249" y="2391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6 Stress-response, repair/remodeling, and imbalance profiles</a:t>
            </a:r>
          </a:p>
        </p:txBody>
      </p:sp>
    </p:spTree>
    <p:extLst>
      <p:ext uri="{BB962C8B-B14F-4D97-AF65-F5344CB8AC3E}">
        <p14:creationId xmlns:p14="http://schemas.microsoft.com/office/powerpoint/2010/main" val="3519547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8E757-DB51-EE7D-EE66-AF88D290B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4DD183D-0811-52CF-D688-59BF340369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833" b="18678"/>
          <a:stretch>
            <a:fillRect/>
          </a:stretch>
        </p:blipFill>
        <p:spPr>
          <a:xfrm>
            <a:off x="371475" y="869543"/>
            <a:ext cx="11718608" cy="4374580"/>
          </a:xfrm>
          <a:prstGeom prst="rect">
            <a:avLst/>
          </a:prstGeom>
        </p:spPr>
      </p:pic>
      <p:sp>
        <p:nvSpPr>
          <p:cNvPr id="3" name="Title 10">
            <a:extLst>
              <a:ext uri="{FF2B5EF4-FFF2-40B4-BE49-F238E27FC236}">
                <a16:creationId xmlns:a16="http://schemas.microsoft.com/office/drawing/2014/main" id="{1442B671-8292-8214-BEF2-2C8F4E9A5960}"/>
              </a:ext>
            </a:extLst>
          </p:cNvPr>
          <p:cNvSpPr txBox="1">
            <a:spLocks/>
          </p:cNvSpPr>
          <p:nvPr/>
        </p:nvSpPr>
        <p:spPr>
          <a:xfrm>
            <a:off x="866249" y="2391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7 Profile patterns across time windows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A53DE3-FA43-D0CF-8D12-259BCBE59F9A}"/>
              </a:ext>
            </a:extLst>
          </p:cNvPr>
          <p:cNvSpPr txBox="1"/>
          <p:nvPr/>
        </p:nvSpPr>
        <p:spPr>
          <a:xfrm>
            <a:off x="580255" y="5244123"/>
            <a:ext cx="12019733" cy="88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Profile patterns suggest stress–repair imbalance may vary across post-stroke time windows, especially among lower-SIS3 patients.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The 1–3 year window may represent a candidate monitoring period when stress-related biological changes are emerging before more established late-stage imbalance.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Shaded bands indicate the interquartile range (25th–75th percentile).</a:t>
            </a:r>
          </a:p>
        </p:txBody>
      </p:sp>
    </p:spTree>
    <p:extLst>
      <p:ext uri="{BB962C8B-B14F-4D97-AF65-F5344CB8AC3E}">
        <p14:creationId xmlns:p14="http://schemas.microsoft.com/office/powerpoint/2010/main" val="2337395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23D3D-3CA3-404F-C73D-83CE6B6AC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6CC8C81-0F9A-20E4-3248-0C7DD8D8D4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0745" b="19701"/>
          <a:stretch>
            <a:fillRect/>
          </a:stretch>
        </p:blipFill>
        <p:spPr>
          <a:xfrm>
            <a:off x="775983" y="3446930"/>
            <a:ext cx="10994231" cy="341294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B829653-587D-3F0F-911E-B2D8C9313B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346" b="21162"/>
          <a:stretch>
            <a:fillRect/>
          </a:stretch>
        </p:blipFill>
        <p:spPr>
          <a:xfrm>
            <a:off x="3500590" y="387394"/>
            <a:ext cx="5798820" cy="295528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7C95500-839B-E35F-7491-E2C07E802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185" t="78430" r="38793" b="13102"/>
          <a:stretch>
            <a:fillRect/>
          </a:stretch>
        </p:blipFill>
        <p:spPr>
          <a:xfrm>
            <a:off x="6973615" y="588348"/>
            <a:ext cx="1542477" cy="339829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826606C6-67D6-8CF9-A00A-81C3208BACB6}"/>
              </a:ext>
            </a:extLst>
          </p:cNvPr>
          <p:cNvSpPr txBox="1">
            <a:spLocks/>
          </p:cNvSpPr>
          <p:nvPr/>
        </p:nvSpPr>
        <p:spPr>
          <a:xfrm>
            <a:off x="866249" y="2391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8 Biological heterogeneity among similar SIS3 patients</a:t>
            </a:r>
          </a:p>
        </p:txBody>
      </p:sp>
    </p:spTree>
    <p:extLst>
      <p:ext uri="{BB962C8B-B14F-4D97-AF65-F5344CB8AC3E}">
        <p14:creationId xmlns:p14="http://schemas.microsoft.com/office/powerpoint/2010/main" val="3817662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89C4-F95A-BFB6-8C57-1C250F00C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49F53BBE-C994-B85A-57E9-1D6DD354F0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0454" b="29577"/>
          <a:stretch>
            <a:fillRect/>
          </a:stretch>
        </p:blipFill>
        <p:spPr>
          <a:xfrm>
            <a:off x="1" y="630506"/>
            <a:ext cx="12653867" cy="32052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F2E91C-46D5-5784-5FA9-A02167A5F309}"/>
              </a:ext>
            </a:extLst>
          </p:cNvPr>
          <p:cNvSpPr txBox="1"/>
          <p:nvPr/>
        </p:nvSpPr>
        <p:spPr>
          <a:xfrm>
            <a:off x="0" y="89646"/>
            <a:ext cx="9946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b="1" dirty="0">
                <a:latin typeface="Arial" panose="020B0604020202020204" pitchFamily="34" charset="0"/>
                <a:cs typeface="Arial" panose="020B0604020202020204" pitchFamily="34" charset="0"/>
              </a:rPr>
              <a:t>Table 4. Pairwise P values for Biological-Module Comparisons Across Lower-SIS3 groups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2FD647-F43B-1553-2A97-B90CC31B0841}"/>
              </a:ext>
            </a:extLst>
          </p:cNvPr>
          <p:cNvSpPr txBox="1"/>
          <p:nvPr/>
        </p:nvSpPr>
        <p:spPr>
          <a:xfrm>
            <a:off x="107985" y="3964544"/>
            <a:ext cx="10508324" cy="88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SIS emotion status should be interpreted together with time since stroke, because similar SIS3 values can correspond to different biological-module profiles across time windows, while patients with different SIS3 values within the same time window may still share similar biological trends.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Future new patient proteomic profiles also should be interpreted relative to the appropriate post-stroke time window.</a:t>
            </a:r>
          </a:p>
        </p:txBody>
      </p:sp>
    </p:spTree>
    <p:extLst>
      <p:ext uri="{BB962C8B-B14F-4D97-AF65-F5344CB8AC3E}">
        <p14:creationId xmlns:p14="http://schemas.microsoft.com/office/powerpoint/2010/main" val="2063540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9DC59-50C2-360D-D57C-63C785635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49" y="692395"/>
            <a:ext cx="10867490" cy="4351338"/>
          </a:xfrm>
        </p:spPr>
        <p:txBody>
          <a:bodyPr>
            <a:normAutofit/>
          </a:bodyPr>
          <a:lstStyle/>
          <a:p>
            <a:r>
              <a:rPr lang="en-CA" sz="1800" dirty="0">
                <a:latin typeface="Arial" panose="020B0604020202020204" pitchFamily="34" charset="0"/>
                <a:cs typeface="Arial" panose="020B0604020202020204" pitchFamily="34" charset="0"/>
              </a:rPr>
              <a:t>A derived stress–repair plasma proteomic imbalance profile distinguishes lower versus higher SIS emotion status after stroke and shows time-since-stroke dependence, particularly among lower-SIS3 patients.</a:t>
            </a:r>
          </a:p>
          <a:p>
            <a:r>
              <a:rPr lang="en-CA" sz="1800" dirty="0">
                <a:latin typeface="Arial" panose="020B0604020202020204" pitchFamily="34" charset="0"/>
                <a:cs typeface="Arial" panose="020B0604020202020204" pitchFamily="34" charset="0"/>
              </a:rPr>
              <a:t>These preliminary cross-sectional findings support a candidate framework for longitudinal validation, imaging integration, and prevention-oriented post-stroke brain-health monitoring.</a:t>
            </a: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F7686AB2-B6CA-4CCC-0115-1682C687E6B2}"/>
              </a:ext>
            </a:extLst>
          </p:cNvPr>
          <p:cNvSpPr txBox="1">
            <a:spLocks/>
          </p:cNvSpPr>
          <p:nvPr/>
        </p:nvSpPr>
        <p:spPr>
          <a:xfrm>
            <a:off x="866249" y="2391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9 Summary</a:t>
            </a:r>
          </a:p>
        </p:txBody>
      </p:sp>
    </p:spTree>
    <p:extLst>
      <p:ext uri="{BB962C8B-B14F-4D97-AF65-F5344CB8AC3E}">
        <p14:creationId xmlns:p14="http://schemas.microsoft.com/office/powerpoint/2010/main" val="500106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B4FBA6-E067-C01D-8766-0CE12084116C}"/>
              </a:ext>
            </a:extLst>
          </p:cNvPr>
          <p:cNvSpPr txBox="1"/>
          <p:nvPr/>
        </p:nvSpPr>
        <p:spPr>
          <a:xfrm>
            <a:off x="523629" y="144474"/>
            <a:ext cx="115511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AI assistance disclosure: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Generative AI was used to assist with language polishing but all data analysis, interpretation, and final content were reviewed and verified by me.</a:t>
            </a:r>
          </a:p>
        </p:txBody>
      </p:sp>
    </p:spTree>
    <p:extLst>
      <p:ext uri="{BB962C8B-B14F-4D97-AF65-F5344CB8AC3E}">
        <p14:creationId xmlns:p14="http://schemas.microsoft.com/office/powerpoint/2010/main" val="1425712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1032</Words>
  <Application>Microsoft Office PowerPoint</Application>
  <PresentationFormat>Custom</PresentationFormat>
  <Paragraphs>81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Slide 1 Preliminary analysis workflow</vt:lpstr>
      <vt:lpstr>Slide 2 Module-level differences between lower and higher SIS3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Gong</dc:creator>
  <cp:lastModifiedBy>Li Gong</cp:lastModifiedBy>
  <cp:revision>13</cp:revision>
  <dcterms:created xsi:type="dcterms:W3CDTF">2026-07-02T22:28:28Z</dcterms:created>
  <dcterms:modified xsi:type="dcterms:W3CDTF">2026-07-08T15:58:37Z</dcterms:modified>
</cp:coreProperties>
</file>