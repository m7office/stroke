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2"/>
  </p:notesMasterIdLst>
  <p:sldIdLst>
    <p:sldId id="256" r:id="rId2"/>
    <p:sldId id="268" r:id="rId3"/>
    <p:sldId id="264" r:id="rId4"/>
    <p:sldId id="272" r:id="rId5"/>
    <p:sldId id="257" r:id="rId6"/>
    <p:sldId id="265" r:id="rId7"/>
    <p:sldId id="274" r:id="rId8"/>
    <p:sldId id="273" r:id="rId9"/>
    <p:sldId id="275" r:id="rId10"/>
    <p:sldId id="270" r:id="rId11"/>
  </p:sldIdLst>
  <p:sldSz cx="125999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26" autoAdjust="0"/>
    <p:restoredTop sz="96723" autoAdjust="0"/>
  </p:normalViewPr>
  <p:slideViewPr>
    <p:cSldViewPr snapToGrid="0">
      <p:cViewPr>
        <p:scale>
          <a:sx n="120" d="100"/>
          <a:sy n="120" d="100"/>
        </p:scale>
        <p:origin x="5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6DA8F-FA20-443C-9D4F-90C451E0BF66}" type="datetimeFigureOut">
              <a:rPr lang="en-CA" smtClean="0"/>
              <a:t>2026-07-07</a:t>
            </a:fld>
            <a:endParaRPr lang="en-CA"/>
          </a:p>
        </p:txBody>
      </p:sp>
      <p:sp>
        <p:nvSpPr>
          <p:cNvPr id="4" name="Slide Image Placeholder 3"/>
          <p:cNvSpPr>
            <a:spLocks noGrp="1" noRot="1" noChangeAspect="1"/>
          </p:cNvSpPr>
          <p:nvPr>
            <p:ph type="sldImg" idx="2"/>
          </p:nvPr>
        </p:nvSpPr>
        <p:spPr>
          <a:xfrm>
            <a:off x="595313" y="1143000"/>
            <a:ext cx="5667375"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4D946-AE82-4C2E-AB3C-ECDD8392AB55}" type="slidenum">
              <a:rPr lang="en-CA" smtClean="0"/>
              <a:t>‹#›</a:t>
            </a:fld>
            <a:endParaRPr lang="en-CA"/>
          </a:p>
        </p:txBody>
      </p:sp>
    </p:spTree>
    <p:extLst>
      <p:ext uri="{BB962C8B-B14F-4D97-AF65-F5344CB8AC3E}">
        <p14:creationId xmlns:p14="http://schemas.microsoft.com/office/powerpoint/2010/main" val="7745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74999" y="1122363"/>
            <a:ext cx="9449991"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74999" y="3602038"/>
            <a:ext cx="944999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50429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63126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9687" y="1709739"/>
            <a:ext cx="1086749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59687" y="4589464"/>
            <a:ext cx="1086749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89053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49" y="1825625"/>
            <a:ext cx="535499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8744" y="1825625"/>
            <a:ext cx="535499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6AFCCF-24AE-4887-9618-F0F2E2356771}" type="datetimeFigureOut">
              <a:rPr lang="en-CA" smtClean="0"/>
              <a:t>2026-07-07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12981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67890" y="365126"/>
            <a:ext cx="1086749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67891" y="1681163"/>
            <a:ext cx="533038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7891" y="2505075"/>
            <a:ext cx="533038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8744" y="1681163"/>
            <a:ext cx="53566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8744" y="2505075"/>
            <a:ext cx="535663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6AFCCF-24AE-4887-9618-F0F2E2356771}" type="datetimeFigureOut">
              <a:rPr lang="en-CA" smtClean="0"/>
              <a:t>2026-07-07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54789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6AFCCF-24AE-4887-9618-F0F2E2356771}" type="datetimeFigureOut">
              <a:rPr lang="en-CA" smtClean="0"/>
              <a:t>2026-07-07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81571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6AFCCF-24AE-4887-9618-F0F2E2356771}" type="datetimeFigureOut">
              <a:rPr lang="en-CA" smtClean="0"/>
              <a:t>2026-07-07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414632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1" y="457200"/>
            <a:ext cx="4063824"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356636" y="987426"/>
            <a:ext cx="637874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7891" y="2057400"/>
            <a:ext cx="40638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AFCCF-24AE-4887-9618-F0F2E2356771}" type="datetimeFigureOut">
              <a:rPr lang="en-CA" smtClean="0"/>
              <a:t>2026-07-07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944755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1" y="457200"/>
            <a:ext cx="4063824"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56636" y="987426"/>
            <a:ext cx="6378744"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7891" y="2057400"/>
            <a:ext cx="40638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AFCCF-24AE-4887-9618-F0F2E2356771}" type="datetimeFigureOut">
              <a:rPr lang="en-CA" smtClean="0"/>
              <a:t>2026-07-07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873602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797290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6867" y="365125"/>
            <a:ext cx="2716872"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66249" y="365125"/>
            <a:ext cx="7993117"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66098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98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249" y="365126"/>
            <a:ext cx="1086749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66249" y="1825625"/>
            <a:ext cx="108674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6249" y="6356351"/>
            <a:ext cx="2834997"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6AFCCF-24AE-4887-9618-F0F2E2356771}" type="datetimeFigureOut">
              <a:rPr lang="en-CA" smtClean="0"/>
              <a:t>2026-07-07</a:t>
            </a:fld>
            <a:endParaRPr lang="en-CA"/>
          </a:p>
        </p:txBody>
      </p:sp>
      <p:sp>
        <p:nvSpPr>
          <p:cNvPr id="5" name="Footer Placeholder 4"/>
          <p:cNvSpPr>
            <a:spLocks noGrp="1"/>
          </p:cNvSpPr>
          <p:nvPr>
            <p:ph type="ftr" sz="quarter" idx="3"/>
          </p:nvPr>
        </p:nvSpPr>
        <p:spPr>
          <a:xfrm>
            <a:off x="4173746" y="6356351"/>
            <a:ext cx="4252496"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p:cNvSpPr>
            <a:spLocks noGrp="1"/>
          </p:cNvSpPr>
          <p:nvPr>
            <p:ph type="sldNum" sz="quarter" idx="4"/>
          </p:nvPr>
        </p:nvSpPr>
        <p:spPr>
          <a:xfrm>
            <a:off x="8898742" y="6356351"/>
            <a:ext cx="2834997"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60A0E0-1B89-4B87-805D-071E41B064FF}" type="slidenum">
              <a:rPr lang="en-CA" smtClean="0"/>
              <a:t>‹#›</a:t>
            </a:fld>
            <a:endParaRPr lang="en-CA"/>
          </a:p>
        </p:txBody>
      </p:sp>
    </p:spTree>
    <p:extLst>
      <p:ext uri="{BB962C8B-B14F-4D97-AF65-F5344CB8AC3E}">
        <p14:creationId xmlns:p14="http://schemas.microsoft.com/office/powerpoint/2010/main" val="170572420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32"/>
          <p:cNvSpPr/>
          <p:nvPr/>
        </p:nvSpPr>
        <p:spPr>
          <a:xfrm>
            <a:off x="2102742" y="196899"/>
            <a:ext cx="4251960" cy="558017"/>
          </a:xfrm>
          <a:prstGeom prst="roundRect">
            <a:avLst/>
          </a:prstGeom>
          <a:solidFill>
            <a:srgbClr val="FFFFFF"/>
          </a:solidFill>
          <a:ln w="17780">
            <a:solidFill>
              <a:srgbClr val="0F5FB8"/>
            </a:solidFill>
          </a:ln>
        </p:spPr>
        <p:txBody>
          <a:bodyPr wrap="square" lIns="635" tIns="635" rIns="635" bIns="635" rtlCol="0" anchor="ctr">
            <a:normAutofit/>
          </a:bodyPr>
          <a:lstStyle/>
          <a:p>
            <a:pPr algn="ctr"/>
            <a:r>
              <a:rPr lang="en-US" sz="1200" b="1" dirty="0">
                <a:solidFill>
                  <a:srgbClr val="111111"/>
                </a:solidFill>
                <a:latin typeface="Arial" pitchFamily="34" charset="0"/>
                <a:ea typeface="Arial" pitchFamily="34" charset="-122"/>
                <a:cs typeface="Arial" pitchFamily="34" charset="-120"/>
              </a:rPr>
              <a:t>Analytic cohort</a:t>
            </a:r>
            <a:endParaRPr lang="en-US" sz="1200" dirty="0"/>
          </a:p>
          <a:p>
            <a:pPr algn="ctr"/>
            <a:r>
              <a:rPr lang="en-US" sz="1200" dirty="0">
                <a:solidFill>
                  <a:srgbClr val="111111"/>
                </a:solidFill>
                <a:latin typeface="Arial" pitchFamily="34" charset="0"/>
                <a:ea typeface="Arial" pitchFamily="34" charset="-122"/>
                <a:cs typeface="Arial" pitchFamily="34" charset="-120"/>
              </a:rPr>
              <a:t>85 patients with SIS3 and plasma proteomic data</a:t>
            </a:r>
            <a:endParaRPr lang="en-US" sz="1200" dirty="0"/>
          </a:p>
        </p:txBody>
      </p:sp>
      <p:sp>
        <p:nvSpPr>
          <p:cNvPr id="35" name="Text 33"/>
          <p:cNvSpPr/>
          <p:nvPr/>
        </p:nvSpPr>
        <p:spPr>
          <a:xfrm>
            <a:off x="2102742" y="2089066"/>
            <a:ext cx="4251960" cy="745546"/>
          </a:xfrm>
          <a:prstGeom prst="roundRect">
            <a:avLst/>
          </a:prstGeom>
          <a:solidFill>
            <a:srgbClr val="FFFFFF"/>
          </a:solidFill>
          <a:ln w="17780">
            <a:solidFill>
              <a:srgbClr val="0F5FB8"/>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Define clinical strata</a:t>
            </a:r>
            <a:endParaRPr lang="en-US" sz="1200" dirty="0"/>
          </a:p>
          <a:p>
            <a:pPr algn="ctr"/>
            <a:r>
              <a:rPr lang="en-US" sz="1200" dirty="0">
                <a:solidFill>
                  <a:srgbClr val="111111"/>
                </a:solidFill>
                <a:latin typeface="Arial" pitchFamily="34" charset="0"/>
                <a:ea typeface="Arial" pitchFamily="34" charset="-122"/>
                <a:cs typeface="Arial" pitchFamily="34" charset="-120"/>
              </a:rPr>
              <a:t>Lower SIS3 (≤63) and Higher SIS3 (&gt;63)</a:t>
            </a:r>
            <a:endParaRPr lang="en-US" sz="1200" dirty="0"/>
          </a:p>
          <a:p>
            <a:pPr algn="ctr"/>
            <a:r>
              <a:rPr lang="en-US" sz="1200" dirty="0">
                <a:solidFill>
                  <a:srgbClr val="111111"/>
                </a:solidFill>
                <a:latin typeface="Arial" pitchFamily="34" charset="0"/>
                <a:ea typeface="Arial" pitchFamily="34" charset="-122"/>
                <a:cs typeface="Arial" pitchFamily="34" charset="-120"/>
              </a:rPr>
              <a:t>Time since stroke: 0–1 y, 1–3 y, &gt;3 y</a:t>
            </a:r>
            <a:endParaRPr lang="en-US" sz="1200" dirty="0"/>
          </a:p>
        </p:txBody>
      </p:sp>
      <p:sp>
        <p:nvSpPr>
          <p:cNvPr id="36" name="Text 34"/>
          <p:cNvSpPr/>
          <p:nvPr/>
        </p:nvSpPr>
        <p:spPr>
          <a:xfrm>
            <a:off x="2102742" y="958560"/>
            <a:ext cx="4251960" cy="918594"/>
          </a:xfrm>
          <a:prstGeom prst="roundRect">
            <a:avLst/>
          </a:prstGeom>
          <a:solidFill>
            <a:srgbClr val="FFFFFF"/>
          </a:solidFill>
          <a:ln w="17780">
            <a:solidFill>
              <a:srgbClr val="0F5FB8"/>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Proteomic processing</a:t>
            </a:r>
            <a:endParaRPr lang="en-US" sz="1200" dirty="0"/>
          </a:p>
          <a:p>
            <a:pPr algn="ctr"/>
            <a:r>
              <a:rPr lang="en-US" sz="1200" dirty="0">
                <a:solidFill>
                  <a:srgbClr val="111111"/>
                </a:solidFill>
                <a:latin typeface="Arial" pitchFamily="34" charset="0"/>
                <a:ea typeface="Arial" pitchFamily="34" charset="-122"/>
                <a:cs typeface="Arial" pitchFamily="34" charset="-120"/>
              </a:rPr>
              <a:t>Remove low-detection proteins</a:t>
            </a:r>
            <a:endParaRPr lang="en-US" sz="1200" dirty="0"/>
          </a:p>
          <a:p>
            <a:pPr algn="ctr"/>
            <a:r>
              <a:rPr lang="en-US" sz="1200" dirty="0">
                <a:solidFill>
                  <a:srgbClr val="111111"/>
                </a:solidFill>
                <a:latin typeface="Arial" pitchFamily="34" charset="0"/>
                <a:ea typeface="Arial" pitchFamily="34" charset="-122"/>
                <a:cs typeface="Arial" pitchFamily="34" charset="-120"/>
              </a:rPr>
              <a:t>Standardize protein values across patients</a:t>
            </a:r>
          </a:p>
        </p:txBody>
      </p:sp>
      <p:sp>
        <p:nvSpPr>
          <p:cNvPr id="37" name="Text 35"/>
          <p:cNvSpPr/>
          <p:nvPr/>
        </p:nvSpPr>
        <p:spPr>
          <a:xfrm>
            <a:off x="2102742" y="3056602"/>
            <a:ext cx="4251960" cy="733692"/>
          </a:xfrm>
          <a:prstGeom prst="roundRect">
            <a:avLst/>
          </a:prstGeom>
          <a:solidFill>
            <a:srgbClr val="FFFFFF"/>
          </a:solidFill>
          <a:ln w="17780">
            <a:solidFill>
              <a:schemeClr val="accent2"/>
            </a:solidFill>
          </a:ln>
        </p:spPr>
        <p:txBody>
          <a:bodyPr wrap="square" lIns="635" tIns="635" rIns="635" bIns="635" rtlCol="0" anchor="ctr">
            <a:normAutofit/>
          </a:bodyPr>
          <a:lstStyle/>
          <a:p>
            <a:pPr algn="ctr"/>
            <a:r>
              <a:rPr lang="en-US" sz="1200" b="1" dirty="0">
                <a:solidFill>
                  <a:srgbClr val="111111"/>
                </a:solidFill>
                <a:latin typeface="Arial" pitchFamily="34" charset="0"/>
                <a:ea typeface="Arial" pitchFamily="34" charset="-122"/>
                <a:cs typeface="Arial" pitchFamily="34" charset="-120"/>
              </a:rPr>
              <a:t>Module-level analysis</a:t>
            </a:r>
            <a:endParaRPr lang="en-US" sz="1200" dirty="0"/>
          </a:p>
          <a:p>
            <a:pPr algn="ctr"/>
            <a:r>
              <a:rPr lang="en-US" sz="1200" dirty="0">
                <a:solidFill>
                  <a:srgbClr val="111111"/>
                </a:solidFill>
                <a:latin typeface="Arial" pitchFamily="34" charset="0"/>
                <a:ea typeface="Arial" pitchFamily="34" charset="-122"/>
                <a:cs typeface="Arial" pitchFamily="34" charset="-120"/>
              </a:rPr>
              <a:t>Map proteins to 12 biological modules</a:t>
            </a:r>
          </a:p>
          <a:p>
            <a:pPr algn="ctr"/>
            <a:r>
              <a:rPr lang="en-US" sz="1200" dirty="0">
                <a:solidFill>
                  <a:srgbClr val="111111"/>
                </a:solidFill>
                <a:latin typeface="Arial" pitchFamily="34" charset="0"/>
                <a:ea typeface="Arial" pitchFamily="34" charset="-122"/>
                <a:cs typeface="Arial" pitchFamily="34" charset="-120"/>
              </a:rPr>
              <a:t>Calculate biological-module values for each patient</a:t>
            </a:r>
            <a:endParaRPr lang="en-US" sz="1200" dirty="0"/>
          </a:p>
        </p:txBody>
      </p:sp>
      <p:sp>
        <p:nvSpPr>
          <p:cNvPr id="38" name="Text 36"/>
          <p:cNvSpPr/>
          <p:nvPr/>
        </p:nvSpPr>
        <p:spPr>
          <a:xfrm>
            <a:off x="2102742" y="4014060"/>
            <a:ext cx="4251960" cy="991220"/>
          </a:xfrm>
          <a:prstGeom prst="roundRect">
            <a:avLst/>
          </a:prstGeom>
          <a:solidFill>
            <a:srgbClr val="FFFFFF"/>
          </a:solidFill>
          <a:ln w="17780">
            <a:solidFill>
              <a:schemeClr val="accent2"/>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Profile derivation</a:t>
            </a:r>
            <a:endParaRPr lang="en-US" sz="1200" dirty="0"/>
          </a:p>
          <a:p>
            <a:pPr algn="ctr"/>
            <a:r>
              <a:rPr lang="en-US" sz="1200" dirty="0">
                <a:solidFill>
                  <a:srgbClr val="111111"/>
                </a:solidFill>
                <a:latin typeface="Arial" pitchFamily="34" charset="0"/>
                <a:ea typeface="Arial" pitchFamily="34" charset="-122"/>
                <a:cs typeface="Arial" pitchFamily="34" charset="-120"/>
              </a:rPr>
              <a:t>Construct stress–repair imbalance profile with</a:t>
            </a:r>
          </a:p>
          <a:p>
            <a:pPr algn="ctr"/>
            <a:r>
              <a:rPr lang="en-US" sz="1200" dirty="0">
                <a:solidFill>
                  <a:srgbClr val="111111"/>
                </a:solidFill>
                <a:latin typeface="Arial" pitchFamily="34" charset="0"/>
                <a:ea typeface="Arial" pitchFamily="34" charset="-122"/>
                <a:cs typeface="Arial" pitchFamily="34" charset="-120"/>
              </a:rPr>
              <a:t>stress–response activation and</a:t>
            </a:r>
            <a:endParaRPr lang="en-US" sz="1200" dirty="0"/>
          </a:p>
          <a:p>
            <a:pPr algn="ctr"/>
            <a:r>
              <a:rPr lang="en-US" sz="1200" dirty="0">
                <a:solidFill>
                  <a:srgbClr val="111111"/>
                </a:solidFill>
                <a:latin typeface="Arial" pitchFamily="34" charset="0"/>
                <a:ea typeface="Arial" pitchFamily="34" charset="-122"/>
                <a:cs typeface="Arial" pitchFamily="34" charset="-120"/>
              </a:rPr>
              <a:t>repair / neurovascular remodeling</a:t>
            </a:r>
            <a:endParaRPr lang="en-US" sz="1200" dirty="0"/>
          </a:p>
        </p:txBody>
      </p:sp>
      <p:sp>
        <p:nvSpPr>
          <p:cNvPr id="51" name="Text 37">
            <a:extLst>
              <a:ext uri="{FF2B5EF4-FFF2-40B4-BE49-F238E27FC236}">
                <a16:creationId xmlns:a16="http://schemas.microsoft.com/office/drawing/2014/main" id="{F8D47B72-C59A-561B-6997-872CBF9F5749}"/>
              </a:ext>
            </a:extLst>
          </p:cNvPr>
          <p:cNvSpPr/>
          <p:nvPr/>
        </p:nvSpPr>
        <p:spPr>
          <a:xfrm>
            <a:off x="7004849" y="2783164"/>
            <a:ext cx="4251960" cy="1272003"/>
          </a:xfrm>
          <a:prstGeom prst="roundRect">
            <a:avLst/>
          </a:prstGeom>
          <a:solidFill>
            <a:srgbClr val="FFFFFF"/>
          </a:solidFill>
          <a:ln w="17780">
            <a:solidFill>
              <a:schemeClr val="accent6"/>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SIS3 score-dependent analyses </a:t>
            </a:r>
          </a:p>
          <a:p>
            <a:pPr algn="ctr"/>
            <a:r>
              <a:rPr lang="en-US" sz="1200" dirty="0">
                <a:solidFill>
                  <a:srgbClr val="111111"/>
                </a:solidFill>
                <a:latin typeface="Arial" pitchFamily="34" charset="0"/>
                <a:ea typeface="Arial" pitchFamily="34" charset="-122"/>
                <a:cs typeface="Arial" pitchFamily="34" charset="-120"/>
              </a:rPr>
              <a:t>Assess module differences</a:t>
            </a:r>
          </a:p>
          <a:p>
            <a:pPr algn="ctr"/>
            <a:r>
              <a:rPr lang="en-US" sz="1200" dirty="0">
                <a:solidFill>
                  <a:srgbClr val="111111"/>
                </a:solidFill>
                <a:latin typeface="Arial" pitchFamily="34" charset="0"/>
                <a:ea typeface="Arial" pitchFamily="34" charset="-122"/>
                <a:cs typeface="Arial" pitchFamily="34" charset="-120"/>
              </a:rPr>
              <a:t>between Lower and Higher SIS3</a:t>
            </a:r>
            <a:endParaRPr lang="en-US" sz="1200" dirty="0"/>
          </a:p>
          <a:p>
            <a:pPr algn="ctr"/>
            <a:r>
              <a:rPr lang="en-US" sz="1200" b="1" dirty="0">
                <a:solidFill>
                  <a:srgbClr val="111111"/>
                </a:solidFill>
                <a:latin typeface="Arial" pitchFamily="34" charset="0"/>
                <a:ea typeface="Arial" pitchFamily="34" charset="-122"/>
                <a:cs typeface="Arial" pitchFamily="34" charset="-120"/>
              </a:rPr>
              <a:t>Time-dependent analyses</a:t>
            </a:r>
            <a:endParaRPr lang="en-US" sz="1200" dirty="0">
              <a:solidFill>
                <a:srgbClr val="111111"/>
              </a:solidFill>
              <a:latin typeface="Arial" pitchFamily="34" charset="0"/>
              <a:ea typeface="Arial" pitchFamily="34" charset="-122"/>
              <a:cs typeface="Arial" pitchFamily="34" charset="-120"/>
            </a:endParaRPr>
          </a:p>
          <a:p>
            <a:pPr algn="ctr"/>
            <a:r>
              <a:rPr lang="en-US" sz="1200" dirty="0">
                <a:solidFill>
                  <a:srgbClr val="111111"/>
                </a:solidFill>
                <a:latin typeface="Arial" pitchFamily="34" charset="0"/>
                <a:ea typeface="Arial" pitchFamily="34" charset="-122"/>
                <a:cs typeface="Arial" pitchFamily="34" charset="-120"/>
              </a:rPr>
              <a:t>Assess module differences</a:t>
            </a:r>
            <a:endParaRPr lang="en-US" sz="1200" dirty="0"/>
          </a:p>
          <a:p>
            <a:pPr algn="ctr"/>
            <a:r>
              <a:rPr lang="en-US" sz="1200" dirty="0">
                <a:solidFill>
                  <a:srgbClr val="111111"/>
                </a:solidFill>
                <a:latin typeface="Arial" pitchFamily="34" charset="0"/>
                <a:ea typeface="Arial" pitchFamily="34" charset="-122"/>
                <a:cs typeface="Arial" pitchFamily="34" charset="-120"/>
              </a:rPr>
              <a:t>across 0–1 y, 1–3 y, and &gt;3 y</a:t>
            </a:r>
            <a:endParaRPr lang="en-US" sz="1200" dirty="0"/>
          </a:p>
        </p:txBody>
      </p:sp>
      <p:cxnSp>
        <p:nvCxnSpPr>
          <p:cNvPr id="53" name="Straight Arrow Connector 52">
            <a:extLst>
              <a:ext uri="{FF2B5EF4-FFF2-40B4-BE49-F238E27FC236}">
                <a16:creationId xmlns:a16="http://schemas.microsoft.com/office/drawing/2014/main" id="{96EA09C7-B11C-D90B-2A1D-2773AA7E794F}"/>
              </a:ext>
            </a:extLst>
          </p:cNvPr>
          <p:cNvCxnSpPr>
            <a:stCxn id="34" idx="2"/>
            <a:endCxn id="36" idx="0"/>
          </p:cNvCxnSpPr>
          <p:nvPr/>
        </p:nvCxnSpPr>
        <p:spPr>
          <a:xfrm>
            <a:off x="4228722" y="754916"/>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4C684D5B-E2AC-71FE-472E-550DD2BC9CDF}"/>
              </a:ext>
            </a:extLst>
          </p:cNvPr>
          <p:cNvCxnSpPr/>
          <p:nvPr/>
        </p:nvCxnSpPr>
        <p:spPr>
          <a:xfrm>
            <a:off x="4248065" y="1885422"/>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B3AF242B-C2AD-AD85-7524-2CCEDE58FC91}"/>
              </a:ext>
            </a:extLst>
          </p:cNvPr>
          <p:cNvCxnSpPr/>
          <p:nvPr/>
        </p:nvCxnSpPr>
        <p:spPr>
          <a:xfrm>
            <a:off x="4259593" y="2842563"/>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351DB54B-1660-B084-60D9-6D9AC0AB07C7}"/>
              </a:ext>
            </a:extLst>
          </p:cNvPr>
          <p:cNvCxnSpPr/>
          <p:nvPr/>
        </p:nvCxnSpPr>
        <p:spPr>
          <a:xfrm>
            <a:off x="4259593" y="3810416"/>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3E2E44BC-3ED4-E9A4-4845-2DD60BB12FF4}"/>
              </a:ext>
            </a:extLst>
          </p:cNvPr>
          <p:cNvCxnSpPr/>
          <p:nvPr/>
        </p:nvCxnSpPr>
        <p:spPr>
          <a:xfrm>
            <a:off x="4259593" y="5017585"/>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 name="Text 37">
            <a:extLst>
              <a:ext uri="{FF2B5EF4-FFF2-40B4-BE49-F238E27FC236}">
                <a16:creationId xmlns:a16="http://schemas.microsoft.com/office/drawing/2014/main" id="{6FA1ABFA-0490-D421-8003-C1B7137834AB}"/>
              </a:ext>
            </a:extLst>
          </p:cNvPr>
          <p:cNvSpPr/>
          <p:nvPr/>
        </p:nvSpPr>
        <p:spPr>
          <a:xfrm>
            <a:off x="2133613" y="5229046"/>
            <a:ext cx="4251960" cy="1291024"/>
          </a:xfrm>
          <a:prstGeom prst="roundRect">
            <a:avLst/>
          </a:prstGeom>
          <a:solidFill>
            <a:srgbClr val="FFFFFF"/>
          </a:solidFill>
          <a:ln w="17780">
            <a:solidFill>
              <a:schemeClr val="accent6"/>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SIS3 score-dependent analyses </a:t>
            </a:r>
          </a:p>
          <a:p>
            <a:pPr algn="ctr"/>
            <a:r>
              <a:rPr lang="en-US" sz="1200" dirty="0">
                <a:solidFill>
                  <a:srgbClr val="111111"/>
                </a:solidFill>
                <a:latin typeface="Arial" pitchFamily="34" charset="0"/>
                <a:ea typeface="Arial" pitchFamily="34" charset="-122"/>
                <a:cs typeface="Arial" pitchFamily="34" charset="-120"/>
              </a:rPr>
              <a:t>Assess profile differences</a:t>
            </a:r>
          </a:p>
          <a:p>
            <a:pPr algn="ctr"/>
            <a:r>
              <a:rPr lang="en-US" sz="1200" dirty="0">
                <a:solidFill>
                  <a:srgbClr val="111111"/>
                </a:solidFill>
                <a:latin typeface="Arial" pitchFamily="34" charset="0"/>
                <a:ea typeface="Arial" pitchFamily="34" charset="-122"/>
                <a:cs typeface="Arial" pitchFamily="34" charset="-120"/>
              </a:rPr>
              <a:t>between Lower and Higher SIS3</a:t>
            </a:r>
            <a:endParaRPr lang="en-US" sz="1200" dirty="0"/>
          </a:p>
          <a:p>
            <a:pPr algn="ctr"/>
            <a:r>
              <a:rPr lang="en-US" sz="1200" b="1" dirty="0">
                <a:solidFill>
                  <a:srgbClr val="111111"/>
                </a:solidFill>
                <a:latin typeface="Arial" pitchFamily="34" charset="0"/>
                <a:ea typeface="Arial" pitchFamily="34" charset="-122"/>
                <a:cs typeface="Arial" pitchFamily="34" charset="-120"/>
              </a:rPr>
              <a:t>Time-dependent analyses</a:t>
            </a:r>
            <a:endParaRPr lang="en-US" sz="1200" dirty="0">
              <a:solidFill>
                <a:srgbClr val="111111"/>
              </a:solidFill>
              <a:latin typeface="Arial" pitchFamily="34" charset="0"/>
              <a:ea typeface="Arial" pitchFamily="34" charset="-122"/>
              <a:cs typeface="Arial" pitchFamily="34" charset="-120"/>
            </a:endParaRPr>
          </a:p>
          <a:p>
            <a:pPr algn="ctr"/>
            <a:r>
              <a:rPr lang="en-US" sz="1200" dirty="0">
                <a:solidFill>
                  <a:srgbClr val="111111"/>
                </a:solidFill>
                <a:latin typeface="Arial" pitchFamily="34" charset="0"/>
                <a:ea typeface="Arial" pitchFamily="34" charset="-122"/>
                <a:cs typeface="Arial" pitchFamily="34" charset="-120"/>
              </a:rPr>
              <a:t>Assess profile differences</a:t>
            </a:r>
            <a:endParaRPr lang="en-US" sz="1200" dirty="0"/>
          </a:p>
          <a:p>
            <a:pPr algn="ctr"/>
            <a:r>
              <a:rPr lang="en-US" sz="1200" dirty="0">
                <a:solidFill>
                  <a:srgbClr val="111111"/>
                </a:solidFill>
                <a:latin typeface="Arial" pitchFamily="34" charset="0"/>
                <a:ea typeface="Arial" pitchFamily="34" charset="-122"/>
                <a:cs typeface="Arial" pitchFamily="34" charset="-120"/>
              </a:rPr>
              <a:t>across 0–1 y, 1–3 y, and &gt;3 y</a:t>
            </a:r>
            <a:endParaRPr lang="en-US" sz="1200" dirty="0"/>
          </a:p>
        </p:txBody>
      </p:sp>
      <p:cxnSp>
        <p:nvCxnSpPr>
          <p:cNvPr id="7" name="Straight Arrow Connector 6">
            <a:extLst>
              <a:ext uri="{FF2B5EF4-FFF2-40B4-BE49-F238E27FC236}">
                <a16:creationId xmlns:a16="http://schemas.microsoft.com/office/drawing/2014/main" id="{7F98E8C4-749E-45C1-4F51-BE31B9013C22}"/>
              </a:ext>
            </a:extLst>
          </p:cNvPr>
          <p:cNvCxnSpPr>
            <a:cxnSpLocks/>
            <a:stCxn id="37" idx="3"/>
            <a:endCxn id="51" idx="1"/>
          </p:cNvCxnSpPr>
          <p:nvPr/>
        </p:nvCxnSpPr>
        <p:spPr>
          <a:xfrm flipV="1">
            <a:off x="6354702" y="3419166"/>
            <a:ext cx="650147" cy="428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305766-1E30-9FE7-84EE-1EFB60801E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14351"/>
            <a:ext cx="12507278" cy="4706303"/>
          </a:xfrm>
          <a:prstGeom prst="rect">
            <a:avLst/>
          </a:prstGeom>
        </p:spPr>
      </p:pic>
    </p:spTree>
    <p:extLst>
      <p:ext uri="{BB962C8B-B14F-4D97-AF65-F5344CB8AC3E}">
        <p14:creationId xmlns:p14="http://schemas.microsoft.com/office/powerpoint/2010/main" val="3519547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E29CE7D8-1288-A20D-8562-7E4C4C7D9E37}"/>
              </a:ext>
            </a:extLst>
          </p:cNvPr>
          <p:cNvSpPr txBox="1"/>
          <p:nvPr/>
        </p:nvSpPr>
        <p:spPr>
          <a:xfrm>
            <a:off x="318155" y="7565585"/>
            <a:ext cx="2589987" cy="734560"/>
          </a:xfrm>
          <a:prstGeom prst="rect">
            <a:avLst/>
          </a:prstGeom>
          <a:noFill/>
        </p:spPr>
        <p:txBody>
          <a:bodyPr wrap="square">
            <a:spAutoFit/>
          </a:bodyPr>
          <a:lstStyle/>
          <a:p>
            <a:r>
              <a:rPr lang="en-CA" sz="261" dirty="0"/>
              <a:t>Bars show the mean biological module score in patients with lower SIS3 versus higher SIS3. Each biological module summarizes a set of plasma proteins linked to processes relevant to chronic stroke, mood regulation, inflammation, vascular injury, systemic stress, and recovery. Because biological functions overlap, some proteins were allowed to contribute to more than one module. </a:t>
            </a:r>
          </a:p>
          <a:p>
            <a:endParaRPr lang="en-CA" sz="261" dirty="0"/>
          </a:p>
          <a:p>
            <a:r>
              <a:rPr lang="en-CA" sz="261" dirty="0"/>
              <a:t>Positive and negative values indicate module activity above or below the cohort average.</a:t>
            </a:r>
          </a:p>
          <a:p>
            <a:endParaRPr lang="en-CA" sz="261" dirty="0"/>
          </a:p>
          <a:p>
            <a:r>
              <a:rPr lang="en-CA" sz="261" dirty="0"/>
              <a:t>Lower SIS3 was associated with a more polarized module profile, with relative activation of monoamine/vesicle/stress-related signals and relative restraint of vascular-remodeling, immune-coagulation, and neuroplasticity-related modules. In contrast, higher SIS3 showed a more generally suppressed module pattern, suggesting that worse mood may reflect disrupted coordination between stress-response and repair biology.</a:t>
            </a:r>
          </a:p>
          <a:p>
            <a:endParaRPr lang="en-CA" sz="261" dirty="0"/>
          </a:p>
          <a:p>
            <a:r>
              <a:rPr lang="en-CA" sz="261" dirty="0"/>
              <a:t>Methods: Mean biological module scores were calculated from raw </a:t>
            </a:r>
            <a:r>
              <a:rPr lang="en-CA" sz="261" dirty="0" err="1"/>
              <a:t>Olink</a:t>
            </a:r>
            <a:r>
              <a:rPr lang="en-CA" sz="261" dirty="0"/>
              <a:t> NPX data. Low-detection proteins were removed, retained proteins were z-scored across patients, and proteins were assigned to one or more literature-aligned biological modules. For each patient, each module score was calculated as the average z-scored NPX value of retained proteins assigned to that module. Lower SIS3 (threshold 63) indicates worse mood/emotional function.</a:t>
            </a:r>
          </a:p>
          <a:p>
            <a:endParaRPr lang="en-CA" sz="261" dirty="0"/>
          </a:p>
          <a:p>
            <a:r>
              <a:rPr lang="en-CA" sz="261" dirty="0"/>
              <a:t>p values compare patient-level module scores between lower- and higher-SIS3 groups using two-sided Mann–Whitney U tests. Confidence intervals show bootstrap 95% CIs for the mean difference, Low SIS3 minus High SIS3.</a:t>
            </a:r>
          </a:p>
        </p:txBody>
      </p:sp>
      <p:sp>
        <p:nvSpPr>
          <p:cNvPr id="27" name="TextBox 26">
            <a:extLst>
              <a:ext uri="{FF2B5EF4-FFF2-40B4-BE49-F238E27FC236}">
                <a16:creationId xmlns:a16="http://schemas.microsoft.com/office/drawing/2014/main" id="{2782D0C8-1417-811E-EED4-9AC7AB6246A7}"/>
              </a:ext>
            </a:extLst>
          </p:cNvPr>
          <p:cNvSpPr txBox="1"/>
          <p:nvPr/>
        </p:nvSpPr>
        <p:spPr>
          <a:xfrm>
            <a:off x="530434" y="7025359"/>
            <a:ext cx="2225553" cy="158057"/>
          </a:xfrm>
          <a:prstGeom prst="rect">
            <a:avLst/>
          </a:prstGeom>
          <a:noFill/>
        </p:spPr>
        <p:txBody>
          <a:bodyPr wrap="square">
            <a:spAutoFit/>
          </a:bodyPr>
          <a:lstStyle/>
          <a:p>
            <a:r>
              <a:rPr lang="en-CA" sz="427" dirty="0"/>
              <a:t>Multi-module plasma protein profiles distinguish lower versus higher SIS3 groups.</a:t>
            </a:r>
          </a:p>
        </p:txBody>
      </p:sp>
      <p:pic>
        <p:nvPicPr>
          <p:cNvPr id="14" name="Graphic 13">
            <a:extLst>
              <a:ext uri="{FF2B5EF4-FFF2-40B4-BE49-F238E27FC236}">
                <a16:creationId xmlns:a16="http://schemas.microsoft.com/office/drawing/2014/main" id="{CD01F12E-7997-D291-C5E9-8B4227F548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506" y="0"/>
            <a:ext cx="12372975" cy="6705600"/>
          </a:xfrm>
          <a:prstGeom prst="rect">
            <a:avLst/>
          </a:prstGeom>
        </p:spPr>
      </p:pic>
    </p:spTree>
    <p:extLst>
      <p:ext uri="{BB962C8B-B14F-4D97-AF65-F5344CB8AC3E}">
        <p14:creationId xmlns:p14="http://schemas.microsoft.com/office/powerpoint/2010/main" val="3275798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7633-4166-B65B-C5A9-A1F01C10E530}"/>
            </a:ext>
          </a:extLst>
        </p:cNvPr>
        <p:cNvGrpSpPr/>
        <p:nvPr/>
      </p:nvGrpSpPr>
      <p:grpSpPr>
        <a:xfrm>
          <a:off x="0" y="0"/>
          <a:ext cx="0" cy="0"/>
          <a:chOff x="0" y="0"/>
          <a:chExt cx="0" cy="0"/>
        </a:xfrm>
      </p:grpSpPr>
      <p:pic>
        <p:nvPicPr>
          <p:cNvPr id="17" name="Graphic 16">
            <a:extLst>
              <a:ext uri="{FF2B5EF4-FFF2-40B4-BE49-F238E27FC236}">
                <a16:creationId xmlns:a16="http://schemas.microsoft.com/office/drawing/2014/main" id="{142E4A9F-6D8C-EF79-9DD9-29405B9C17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88" y="19050"/>
            <a:ext cx="12534900" cy="6838950"/>
          </a:xfrm>
          <a:prstGeom prst="rect">
            <a:avLst/>
          </a:prstGeom>
        </p:spPr>
      </p:pic>
    </p:spTree>
    <p:extLst>
      <p:ext uri="{BB962C8B-B14F-4D97-AF65-F5344CB8AC3E}">
        <p14:creationId xmlns:p14="http://schemas.microsoft.com/office/powerpoint/2010/main" val="1215484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2F8DF0E-D81F-E4D5-301D-16AF70988C1C}"/>
              </a:ext>
            </a:extLst>
          </p:cNvPr>
          <p:cNvSpPr txBox="1"/>
          <p:nvPr/>
        </p:nvSpPr>
        <p:spPr>
          <a:xfrm>
            <a:off x="5576692" y="2653067"/>
            <a:ext cx="1446609" cy="223779"/>
          </a:xfrm>
          <a:prstGeom prst="rect">
            <a:avLst/>
          </a:prstGeom>
          <a:noFill/>
        </p:spPr>
        <p:txBody>
          <a:bodyPr wrap="square">
            <a:spAutoFit/>
          </a:bodyPr>
          <a:lstStyle/>
          <a:p>
            <a:r>
              <a:rPr lang="en-CA" sz="427" dirty="0"/>
              <a:t>Distribution of SIS3 mood scores across time since stroke</a:t>
            </a:r>
          </a:p>
        </p:txBody>
      </p:sp>
      <p:sp>
        <p:nvSpPr>
          <p:cNvPr id="14" name="TextBox 13">
            <a:extLst>
              <a:ext uri="{FF2B5EF4-FFF2-40B4-BE49-F238E27FC236}">
                <a16:creationId xmlns:a16="http://schemas.microsoft.com/office/drawing/2014/main" id="{0CDBFA79-6909-F8AC-11A1-23098C883BDD}"/>
              </a:ext>
            </a:extLst>
          </p:cNvPr>
          <p:cNvSpPr txBox="1"/>
          <p:nvPr/>
        </p:nvSpPr>
        <p:spPr>
          <a:xfrm>
            <a:off x="5018447" y="3761905"/>
            <a:ext cx="2505602" cy="333168"/>
          </a:xfrm>
          <a:prstGeom prst="rect">
            <a:avLst/>
          </a:prstGeom>
          <a:noFill/>
        </p:spPr>
        <p:txBody>
          <a:bodyPr wrap="square">
            <a:spAutoFit/>
          </a:bodyPr>
          <a:lstStyle/>
          <a:p>
            <a:r>
              <a:rPr lang="en-CA" sz="261" dirty="0"/>
              <a:t>Patients were grouped by time since stroke and split into lower SIS3 (≤63) and higher SIS3 (&gt;63). The proportion of lower-SIS3 patients increased across later time bins. </a:t>
            </a:r>
          </a:p>
          <a:p>
            <a:endParaRPr lang="en-CA" sz="261" dirty="0"/>
          </a:p>
          <a:p>
            <a:r>
              <a:rPr lang="en-CA" sz="261" dirty="0"/>
              <a:t>Violin plots show that lower-SIS3 patients, especially beyond 3 years, had lower average SIS3 scores and greater variability, whereas higher-SIS3 patients remained clustered above SIS3 threshold. These patterns suggest that post-stroke mood impairment may reflect a heterogeneous phenotype at late-stage, motivating the next step of testing whether distinct biological module profiles underlie lower versus higher SIS3 groups.</a:t>
            </a:r>
          </a:p>
        </p:txBody>
      </p:sp>
      <p:pic>
        <p:nvPicPr>
          <p:cNvPr id="18" name="Graphic 17">
            <a:extLst>
              <a:ext uri="{FF2B5EF4-FFF2-40B4-BE49-F238E27FC236}">
                <a16:creationId xmlns:a16="http://schemas.microsoft.com/office/drawing/2014/main" id="{53E48621-C7FE-BC39-933E-A088AB4A39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306" y="238125"/>
            <a:ext cx="12525375" cy="6553200"/>
          </a:xfrm>
          <a:prstGeom prst="rect">
            <a:avLst/>
          </a:prstGeom>
        </p:spPr>
      </p:pic>
    </p:spTree>
    <p:extLst>
      <p:ext uri="{BB962C8B-B14F-4D97-AF65-F5344CB8AC3E}">
        <p14:creationId xmlns:p14="http://schemas.microsoft.com/office/powerpoint/2010/main" val="421269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923C4CA0-7525-29FC-6E3C-3801652222A3}"/>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D30C1618-2D77-3BDC-AF4E-7F4303628B8D}"/>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2" name="Graphic 21">
            <a:extLst>
              <a:ext uri="{FF2B5EF4-FFF2-40B4-BE49-F238E27FC236}">
                <a16:creationId xmlns:a16="http://schemas.microsoft.com/office/drawing/2014/main" id="{65AFF037-AA5F-9A13-BB20-C1B5AEFA32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08610"/>
            <a:ext cx="12575858" cy="6240780"/>
          </a:xfrm>
          <a:prstGeom prst="rect">
            <a:avLst/>
          </a:prstGeom>
        </p:spPr>
      </p:pic>
    </p:spTree>
    <p:extLst>
      <p:ext uri="{BB962C8B-B14F-4D97-AF65-F5344CB8AC3E}">
        <p14:creationId xmlns:p14="http://schemas.microsoft.com/office/powerpoint/2010/main" val="1458557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E41A-A88E-82F5-05E9-001A8B151AD8}"/>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0076AEFF-9AB6-2A04-77D6-9F965D15F45C}"/>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FFD11B07-0457-B4FA-40BB-D377DCECD6A9}"/>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8" name="Graphic 27">
            <a:extLst>
              <a:ext uri="{FF2B5EF4-FFF2-40B4-BE49-F238E27FC236}">
                <a16:creationId xmlns:a16="http://schemas.microsoft.com/office/drawing/2014/main" id="{D021C6EA-92FE-36DE-65DF-08E392BD8A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917055"/>
            <a:ext cx="12605099" cy="4091178"/>
          </a:xfrm>
          <a:prstGeom prst="rect">
            <a:avLst/>
          </a:prstGeom>
        </p:spPr>
      </p:pic>
    </p:spTree>
    <p:extLst>
      <p:ext uri="{BB962C8B-B14F-4D97-AF65-F5344CB8AC3E}">
        <p14:creationId xmlns:p14="http://schemas.microsoft.com/office/powerpoint/2010/main" val="2794748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A1C21-1483-A2AE-CC41-7CE809402471}"/>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85B5BBC-57F7-0F12-DC35-37D50AD174F1}"/>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EF29932C-6685-CC6A-3DD2-E0AEB352D2EA}"/>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6" name="Graphic 25">
            <a:extLst>
              <a:ext uri="{FF2B5EF4-FFF2-40B4-BE49-F238E27FC236}">
                <a16:creationId xmlns:a16="http://schemas.microsoft.com/office/drawing/2014/main" id="{9A6156D7-BF66-541B-8089-A61F5002BF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130" y="308610"/>
            <a:ext cx="12575858" cy="6240780"/>
          </a:xfrm>
          <a:prstGeom prst="rect">
            <a:avLst/>
          </a:prstGeom>
        </p:spPr>
      </p:pic>
    </p:spTree>
    <p:extLst>
      <p:ext uri="{BB962C8B-B14F-4D97-AF65-F5344CB8AC3E}">
        <p14:creationId xmlns:p14="http://schemas.microsoft.com/office/powerpoint/2010/main" val="2247375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D0F91-A5F6-05CC-71BD-9A07DDF148EF}"/>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B985F0E-A6B6-B116-577A-4C1D60F9CD7A}"/>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7524D566-9462-64D2-01DD-F37CA59EB6D4}"/>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4" name="Graphic 23">
            <a:extLst>
              <a:ext uri="{FF2B5EF4-FFF2-40B4-BE49-F238E27FC236}">
                <a16:creationId xmlns:a16="http://schemas.microsoft.com/office/drawing/2014/main" id="{F40C76B1-7BD2-F33A-356E-BF2D0B6294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11" y="845820"/>
            <a:ext cx="12605099" cy="4091178"/>
          </a:xfrm>
          <a:prstGeom prst="rect">
            <a:avLst/>
          </a:prstGeom>
        </p:spPr>
      </p:pic>
    </p:spTree>
    <p:extLst>
      <p:ext uri="{BB962C8B-B14F-4D97-AF65-F5344CB8AC3E}">
        <p14:creationId xmlns:p14="http://schemas.microsoft.com/office/powerpoint/2010/main" val="97890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E757-DB51-EE7D-EE66-AF88D290B153}"/>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F4DD183D-0811-52CF-D688-59BF340369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1475" y="531495"/>
            <a:ext cx="11718608" cy="5795010"/>
          </a:xfrm>
          <a:prstGeom prst="rect">
            <a:avLst/>
          </a:prstGeom>
        </p:spPr>
      </p:pic>
    </p:spTree>
    <p:extLst>
      <p:ext uri="{BB962C8B-B14F-4D97-AF65-F5344CB8AC3E}">
        <p14:creationId xmlns:p14="http://schemas.microsoft.com/office/powerpoint/2010/main" val="23373959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1072</Words>
  <Application>Microsoft Office PowerPoint</Application>
  <PresentationFormat>Custom</PresentationFormat>
  <Paragraphs>62</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Gong</dc:creator>
  <cp:lastModifiedBy>Li Gong</cp:lastModifiedBy>
  <cp:revision>10</cp:revision>
  <dcterms:created xsi:type="dcterms:W3CDTF">2026-07-02T22:28:28Z</dcterms:created>
  <dcterms:modified xsi:type="dcterms:W3CDTF">2026-07-07T20:56:01Z</dcterms:modified>
</cp:coreProperties>
</file>